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59" r:id="rId7"/>
    <p:sldId id="261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73" r:id="rId16"/>
    <p:sldId id="283" r:id="rId17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作者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18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5388" y="96"/>
      </p:cViewPr>
      <p:guideLst/>
    </p:cSldViewPr>
  </p:notesViewPr>
  <p:gridSpacing cx="120000" cy="12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3B129C17-9205-4554-BF5C-070656C216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B41E939-D5BE-4B7F-BCD2-05DCC4E5E8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864EF8F-93C5-4541-926C-80DCEAB0E965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2026/3/13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61800B1-1D76-46D4-ADAF-FD5EA7AFBE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CBFA674-DC58-422B-8963-09FD1B05ED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A42FE58-2C2A-433E-A3EF-B39ACF97315A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635657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F2E267B-0C99-4BE6-95D3-5B4EB5375E46}" type="datetime1">
              <a:rPr lang="zh-TW" altLang="en-US" noProof="0" smtClean="0"/>
              <a:t>2026/3/13</a:t>
            </a:fld>
            <a:endParaRPr lang="zh-TW" altLang="en-US" noProof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97DC217-DF71-1A49-B3EA-559F1F43B0FF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7DC217-DF71-1A49-B3EA-559F1F43B0F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7724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41775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7744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24704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03063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7450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042729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E339A-2B31-5D4B-8A57-5EC98E1C6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A5AED4A-17AD-04E9-D30B-F6104C607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C39C3FC-BD5E-006A-DECA-461F28983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FF7A0E-17C2-5CA9-C183-A4F54DB73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0468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07D15-7A44-3853-CDE4-98E25EB1C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1E2CD4B-5555-556F-5C0E-4F19AB264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9535E9E-2792-BECD-4DBF-F2DD8D1F5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D7F53C5-0AB2-F04F-867A-D02D0676D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940281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A4B25-8E16-8043-2E2E-A8C5E88C8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560B40F-4219-64D6-C440-BB39D996F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0FE96CD-3DAD-059E-74A7-E767351F0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BF74D5-585D-4910-31FF-B22222694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021892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0C996-C317-4BBF-C14B-C2C3D952F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DEC6F8E-56BA-6278-56FF-EA5DDB1B9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CD4C3BA-49E1-E596-6C67-ECE1F30CF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A563A7-B682-32F9-D8F9-F5E42CAFDE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1926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655037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A3B5B-8C3D-140C-DA20-7F5C0BE64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02B8D21-6BAD-B951-92A9-03F75FAFD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021DAE4-3001-3930-D978-8898FD330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27A069-AD27-4DF6-7897-81C6F6C76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08623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02038"/>
            <a:ext cx="9500507" cy="806675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橢圓​​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1" name="手繪多邊形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9" name="手繪多邊形​​(F)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手繪多邊形​​(F)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6" name="手繪多邊形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22" name="手繪多邊形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8" name="手繪多邊形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手繪多邊形​​(F)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手繪多邊形​​(F)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手繪多邊形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手繪多邊形​​(F)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8" name="手繪多邊形​​(F)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10" name="日期版面配置區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771E5EC9-0AE7-4DA6-91A2-BEB118ECAB88}" type="datetime1">
              <a:rPr lang="zh-TW" altLang="en-US" noProof="0" smtClean="0"/>
              <a:t>2026/3/13</a:t>
            </a:fld>
            <a:endParaRPr lang="zh-TW" altLang="en-US" noProof="0"/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12" name="投影片編號版面配置區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區段標頭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2" name="手繪多邊形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4" name="手繪多邊形​​(F)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5" name="手繪多邊形​​(F)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 rtlCol="0"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D008D3D-DF24-4E70-8D79-942759761C05}" type="datetime1">
              <a:rPr lang="zh-TW" altLang="en-US" noProof="0" smtClean="0"/>
              <a:t>2026/3/13</a:t>
            </a:fld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手繪多邊形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539075"/>
            <a:ext cx="6245912" cy="1406101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手繪多邊形​​(F)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6" name="手繪多邊形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17" name="手繪多邊形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8" name="手繪多邊形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圖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手繪多邊形​​(F)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手繪多邊形​​(F)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" name="日期版面配置區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9FB5FF82-8C05-4030-AB2C-90DFCE26C19B}" type="datetime1">
              <a:rPr lang="zh-TW" altLang="en-US" noProof="0" smtClean="0"/>
              <a:t>2026/3/13</a:t>
            </a:fld>
            <a:endParaRPr lang="zh-TW" altLang="en-US" noProof="0"/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12" name="投影片編號版面配置區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圖表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手繪多邊形​​(F)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4" name="手繪多邊形​​(F)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3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0" name="日期版面配置區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D97CEFB-BE58-4E85-9425-C51300490EF7}" type="datetime1">
              <a:rPr lang="zh-TW" altLang="en-US" noProof="0" smtClean="0"/>
              <a:t>2026/3/13</a:t>
            </a:fld>
            <a:endParaRPr lang="zh-TW" altLang="en-US" noProof="0"/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12" name="投影片編號版面配置區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721" y="1684338"/>
            <a:ext cx="8594558" cy="2810460"/>
          </a:xfrm>
        </p:spPr>
        <p:txBody>
          <a:bodyPr rtlCol="0"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zh-TW" altLang="en-US" noProof="0"/>
              <a:t>“</a:t>
            </a:r>
          </a:p>
        </p:txBody>
      </p:sp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81813" y="4494213"/>
            <a:ext cx="3511550" cy="679450"/>
          </a:xfrm>
        </p:spPr>
        <p:txBody>
          <a:bodyPr rtlCol="0"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9" name="文字版面配置區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zh-TW" altLang="en-US" noProof="0"/>
              <a:t>”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40F68810-067D-4444-BD62-8A5F6BA385C9}" type="datetime1">
              <a:rPr lang="zh-TW" altLang="en-US" noProof="0" smtClean="0"/>
              <a:t>2026/3/13</a:t>
            </a:fld>
            <a:endParaRPr lang="zh-TW" altLang="en-US" noProof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1" name="標題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6" name="圖片版面配置區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0" name="文字版面配置區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11" name="文字版面配置區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7" name="圖片版面配置區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2" name="文字版面配置區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13" name="文字版面配置區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8" name="圖片版面配置區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4" name="文字版面配置區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15" name="文字版面配置區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9" name="圖片版面配置區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6" name="文字版面配置區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17" name="文字版面配置區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48C0665-835A-4CF9-BF7B-6D8A73E19DEE}" type="datetime1">
              <a:rPr lang="zh-TW" altLang="en-US" noProof="0" smtClean="0"/>
              <a:t>2026/3/13</a:t>
            </a:fld>
            <a:endParaRPr lang="zh-TW" altLang="en-US" noProof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9" name="手繪多邊形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1" name="手繪多邊形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5" name="手繪多邊形​​(F)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6" name="橢圓​​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7" name="手繪多邊形​​(F)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8" name="手繪多邊形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9" name="手繪多邊形​​(F)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整個團隊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標題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10678142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6" name="圖片版面配置區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1" name="文字版面配置區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32" name="文字版面配置區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33" name="圖片版面配置區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4" name="文字版面配置區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35" name="文字版面配置區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36" name="圖片版面配置區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7" name="文字版面配置區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38" name="文字版面配置區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39" name="圖片版面配置區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0" name="文字版面配置區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41" name="文字版面配置區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42" name="圖片版面配置區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3" name="文字版面配置區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44" name="文字版面配置區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45" name="圖片版面配置區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6" name="文字版面配置區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47" name="文字版面配置區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48" name="圖片版面配置區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9" name="文字版面配置區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50" name="文字版面配置區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51" name="圖片版面配置區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52" name="文字版面配置區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53" name="文字版面配置區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18" name="日期版面配置區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75623E1-5DCE-4542-968C-BF94A11D2DD4}" type="datetime1">
              <a:rPr lang="zh-TW" altLang="en-US" noProof="0" smtClean="0"/>
              <a:t>2026/3/13</a:t>
            </a:fld>
            <a:endParaRPr lang="zh-TW" altLang="en-US" noProof="0"/>
          </a:p>
        </p:txBody>
      </p:sp>
      <p:sp>
        <p:nvSpPr>
          <p:cNvPr id="22" name="頁尾版面配置區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時間表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手繪多邊形​​(F)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手繪多邊形​​(F)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0" name="日期版面配置區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53E2FD9-212C-4634-B9BE-2B64514F2F1C}" type="datetime1">
              <a:rPr lang="zh-TW" altLang="en-US" noProof="0" smtClean="0"/>
              <a:t>2026/3/13</a:t>
            </a:fld>
            <a:endParaRPr lang="zh-TW" altLang="en-US" noProof="0"/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12" name="投影片編號版面配置區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手繪多邊形​​(F)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手繪多邊形​​(F)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手繪多邊形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手繪多邊形​​(F)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8" name="手繪多邊形​​(F)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10" name="日期版面配置區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6B557A9-0E5D-4096-B4AD-E75F2E23F2DD}" type="datetime1">
              <a:rPr lang="zh-TW" altLang="en-US" noProof="0" smtClean="0"/>
              <a:t>2026/3/13</a:t>
            </a:fld>
            <a:endParaRPr lang="zh-TW" altLang="en-US" noProof="0"/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12" name="投影片編號版面配置區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5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526318"/>
            <a:ext cx="3218688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手繪多邊形​​(F)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手繪多邊形​​(F)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手繪多邊形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手繪多邊形​​(F)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8" name="手繪多邊形​​(F)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10" name="日期版面配置區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179ADB2-D8DE-499A-9C24-143BE3DCBD4B}" type="datetime1">
              <a:rPr lang="zh-TW" altLang="en-US" noProof="0" smtClean="0"/>
              <a:t>2026/3/13</a:t>
            </a:fld>
            <a:endParaRPr lang="zh-TW" altLang="en-US" noProof="0"/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6" name="內容版面配置區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008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2" name="投影片編號版面配置區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最後一張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02038"/>
            <a:ext cx="6220277" cy="2247219"/>
          </a:xfrm>
        </p:spPr>
        <p:txBody>
          <a:bodyPr rtlCol="0">
            <a:noAutofit/>
          </a:bodyPr>
          <a:lstStyle>
            <a:lvl1pPr marL="0" indent="0" algn="l">
              <a:buNone/>
              <a:defRPr sz="2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手繪多邊形​​(F)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6" name="手繪多邊形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22" name="手繪多邊形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7" name="手繪多邊形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CF827C6-B0FB-4CAB-9C5C-422F7C1B12BD}" type="datetime1">
              <a:rPr lang="zh-TW" altLang="en-US" noProof="0" smtClean="0"/>
              <a:t>2026/3/13</a:t>
            </a:fld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7893" y="1703388"/>
            <a:ext cx="7185932" cy="2387600"/>
          </a:xfrm>
        </p:spPr>
        <p:txBody>
          <a:bodyPr rtlCol="0"/>
          <a:lstStyle/>
          <a:p>
            <a:pPr rtl="0"/>
            <a:r>
              <a:rPr lang="en-US" altLang="zh-TW" sz="3200" b="0" i="0" dirty="0">
                <a:effectLst/>
                <a:latin typeface="Google Sans"/>
              </a:rPr>
              <a:t>3D</a:t>
            </a:r>
            <a:r>
              <a:rPr lang="zh-TW" altLang="en-US" sz="3200" b="0" i="0" dirty="0">
                <a:effectLst/>
                <a:latin typeface="Google Sans"/>
              </a:rPr>
              <a:t>地圖資料庫輔助</a:t>
            </a:r>
            <a:r>
              <a:rPr lang="en-US" altLang="zh-TW" sz="3200" b="0" i="0" dirty="0">
                <a:effectLst/>
                <a:latin typeface="Google Sans"/>
              </a:rPr>
              <a:t>GNSSRTK</a:t>
            </a:r>
            <a:r>
              <a:rPr lang="zh-TW" altLang="en-US" sz="3200" b="0" i="0" dirty="0">
                <a:effectLst/>
                <a:latin typeface="Google Sans"/>
              </a:rPr>
              <a:t>及其在都市峽谷中的評估</a:t>
            </a:r>
            <a:endParaRPr lang="zh-TW" altLang="en-US" sz="32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94EB13D-DB73-4C2A-8841-96EFF9FB6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93" y="1369478"/>
            <a:ext cx="5109482" cy="152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pPr rtl="0"/>
            <a:r>
              <a:rPr lang="zh-TW" altLang="en-US" dirty="0"/>
              <a:t>主題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zh-TW" altLang="en-US" dirty="0"/>
              <a:t>摘要</a:t>
            </a:r>
          </a:p>
          <a:p>
            <a:pPr rtl="0"/>
            <a:r>
              <a:rPr lang="zh-TW" altLang="en-US" dirty="0"/>
              <a:t>理論模型與方法</a:t>
            </a:r>
          </a:p>
          <a:p>
            <a:pPr rtl="0"/>
            <a:r>
              <a:rPr lang="zh-TW" altLang="en-US" dirty="0"/>
              <a:t>結果分析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/>
          <a:lstStyle/>
          <a:p>
            <a:pPr rtl="0"/>
            <a:r>
              <a:rPr lang="zh-TW" altLang="en-US" dirty="0"/>
              <a:t>摘要</a:t>
            </a:r>
          </a:p>
        </p:txBody>
      </p:sp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43047E-FBFD-4F79-BCA5-10E69740F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摘要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DB30D50-1377-244D-A1A4-32FB836C1F3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 rtlCol="0"/>
          <a:lstStyle/>
          <a:p>
            <a:pPr rtl="0"/>
            <a:fld id="{6029FDC3-7F04-49BB-A012-C10ED2668038}" type="datetime1">
              <a:rPr lang="en-US" altLang="zh-TW" smtClean="0"/>
              <a:t>3/13/2026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A926C73-F226-914E-AC56-BF3172765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簡報標題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0A86E01-62BB-5145-A6C3-515717DD3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US" altLang="zh-TW" smtClean="0"/>
              <a:pPr rtl="0"/>
              <a:t>4</a:t>
            </a:fld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C374BD7-11DE-49C6-96A3-E8255829CFD3}"/>
              </a:ext>
            </a:extLst>
          </p:cNvPr>
          <p:cNvSpPr txBox="1"/>
          <p:nvPr/>
        </p:nvSpPr>
        <p:spPr>
          <a:xfrm>
            <a:off x="1357312" y="1885950"/>
            <a:ext cx="912971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TW" altLang="en-US" b="1" i="0" dirty="0">
                <a:effectLst/>
                <a:latin typeface="Google Sans Text"/>
              </a:rPr>
              <a:t>研究動機</a:t>
            </a:r>
            <a:r>
              <a:rPr lang="zh-TW" altLang="en-US" b="0" i="0" dirty="0">
                <a:effectLst/>
                <a:latin typeface="Google Sans Text"/>
              </a:rPr>
              <a:t>：諸如無人機等新興的自主系統，需要公分級的高精度定位，而即時動態定位技術（</a:t>
            </a:r>
            <a:r>
              <a:rPr lang="en-US" altLang="zh-TW" b="0" i="0" dirty="0">
                <a:effectLst/>
                <a:latin typeface="Google Sans Text"/>
              </a:rPr>
              <a:t>GNSSRTK</a:t>
            </a:r>
            <a:r>
              <a:rPr lang="zh-TW" altLang="en-US" b="0" i="0" dirty="0">
                <a:effectLst/>
                <a:latin typeface="Google Sans Text"/>
              </a:rPr>
              <a:t>）具備滿足此需求的潛力，雖然</a:t>
            </a:r>
            <a:r>
              <a:rPr lang="en-US" altLang="zh-TW" b="0" i="0" dirty="0">
                <a:effectLst/>
                <a:latin typeface="Google Sans Text"/>
              </a:rPr>
              <a:t>RTK</a:t>
            </a:r>
            <a:r>
              <a:rPr lang="zh-TW" altLang="en-US" b="0" i="0" dirty="0">
                <a:effectLst/>
                <a:latin typeface="Google Sans Text"/>
              </a:rPr>
              <a:t>在開闊天空下能提供公分級精度，但在充滿高樓的「都市峽谷」中，因嚴重的多路徑效應（</a:t>
            </a:r>
            <a:r>
              <a:rPr lang="en-US" altLang="zh-TW" b="0" i="0" dirty="0">
                <a:effectLst/>
                <a:latin typeface="Google Sans Text"/>
              </a:rPr>
              <a:t>Multipath</a:t>
            </a:r>
            <a:r>
              <a:rPr lang="zh-TW" altLang="en-US" b="0" i="0" dirty="0">
                <a:effectLst/>
                <a:latin typeface="Google Sans Text"/>
              </a:rPr>
              <a:t>）與非視距（</a:t>
            </a:r>
            <a:r>
              <a:rPr lang="en-US" altLang="zh-TW" b="0" i="0" dirty="0">
                <a:effectLst/>
                <a:latin typeface="Google Sans Text"/>
              </a:rPr>
              <a:t>NLOS</a:t>
            </a:r>
            <a:r>
              <a:rPr lang="zh-TW" altLang="en-US" b="0" i="0" dirty="0">
                <a:effectLst/>
                <a:latin typeface="Google Sans Text"/>
              </a:rPr>
              <a:t>）訊號傳播，其效能受到極大限制</a:t>
            </a:r>
            <a:endParaRPr lang="en-US" altLang="zh-TW" b="0" i="0" dirty="0">
              <a:effectLst/>
              <a:latin typeface="Google Sans Tex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>
              <a:latin typeface="Google Sans Text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TW" altLang="en-US" b="1" i="0" dirty="0">
                <a:effectLst/>
                <a:latin typeface="Google Sans Text"/>
              </a:rPr>
              <a:t>現有技術的限制</a:t>
            </a:r>
            <a:r>
              <a:rPr lang="zh-TW" altLang="en-US" b="0" i="0" dirty="0">
                <a:effectLst/>
                <a:latin typeface="Google Sans Text"/>
              </a:rPr>
              <a:t>：為了在都市中維持定位品質，必須排除或修正不健康的測量訊號。傳統的改善方法包含加裝魚眼相機、</a:t>
            </a:r>
            <a:r>
              <a:rPr lang="en-US" altLang="zh-TW" b="0" i="0" dirty="0">
                <a:effectLst/>
                <a:latin typeface="Google Sans Text"/>
              </a:rPr>
              <a:t>3D</a:t>
            </a:r>
            <a:r>
              <a:rPr lang="zh-TW" altLang="en-US" b="0" i="0" dirty="0">
                <a:effectLst/>
                <a:latin typeface="Google Sans Text"/>
              </a:rPr>
              <a:t>光達（</a:t>
            </a:r>
            <a:r>
              <a:rPr lang="en-US" altLang="zh-TW" b="0" i="0" dirty="0">
                <a:effectLst/>
                <a:latin typeface="Google Sans Text"/>
              </a:rPr>
              <a:t>LiDAR</a:t>
            </a:r>
            <a:r>
              <a:rPr lang="zh-TW" altLang="en-US" b="0" i="0" dirty="0">
                <a:effectLst/>
                <a:latin typeface="Google Sans Text"/>
              </a:rPr>
              <a:t>）以識別</a:t>
            </a:r>
            <a:r>
              <a:rPr lang="en-US" altLang="zh-TW" b="0" i="0" dirty="0">
                <a:effectLst/>
                <a:latin typeface="Google Sans Text"/>
              </a:rPr>
              <a:t>NLOS</a:t>
            </a:r>
            <a:r>
              <a:rPr lang="zh-TW" altLang="en-US" b="0" i="0" dirty="0">
                <a:effectLst/>
                <a:latin typeface="Google Sans Text"/>
              </a:rPr>
              <a:t>訊號，或是單純提高衛星仰角遮罩（例如設定</a:t>
            </a:r>
            <a:r>
              <a:rPr lang="en-US" altLang="zh-TW" b="0" i="0" dirty="0">
                <a:effectLst/>
                <a:latin typeface="Google Sans Text"/>
              </a:rPr>
              <a:t>35</a:t>
            </a:r>
            <a:r>
              <a:rPr lang="zh-TW" altLang="en-US" b="0" i="0" dirty="0">
                <a:effectLst/>
                <a:latin typeface="Google Sans Text"/>
              </a:rPr>
              <a:t>度以上的仰角）。然而，額外硬體不適用於所有情境，且固定的仰角遮罩在建築物分佈不均的環境中效果有限</a:t>
            </a:r>
            <a:endParaRPr lang="en-US" altLang="zh-TW" dirty="0">
              <a:latin typeface="Google Sans Tex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>
              <a:latin typeface="Google Sans Text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TW" altLang="en-US" b="1" i="0" dirty="0">
                <a:effectLst/>
                <a:latin typeface="Google Sans Text"/>
              </a:rPr>
              <a:t>本篇核心貢獻</a:t>
            </a:r>
            <a:r>
              <a:rPr lang="zh-TW" altLang="en-US" b="0" i="0" dirty="0">
                <a:effectLst/>
                <a:latin typeface="Google Sans Text"/>
              </a:rPr>
              <a:t>：提出「</a:t>
            </a:r>
            <a:r>
              <a:rPr lang="en-US" altLang="zh-TW" b="0" i="0" dirty="0">
                <a:effectLst/>
                <a:latin typeface="Google Sans Text"/>
              </a:rPr>
              <a:t>3D</a:t>
            </a:r>
            <a:r>
              <a:rPr lang="zh-TW" altLang="en-US" b="0" i="0" dirty="0">
                <a:effectLst/>
                <a:latin typeface="Google Sans Text"/>
              </a:rPr>
              <a:t>地圖資料庫輔助</a:t>
            </a:r>
            <a:r>
              <a:rPr lang="en-US" altLang="zh-TW" b="0" i="0" dirty="0">
                <a:effectLst/>
                <a:latin typeface="Google Sans Text"/>
              </a:rPr>
              <a:t>GNSSRTK</a:t>
            </a:r>
            <a:r>
              <a:rPr lang="zh-TW" altLang="en-US" b="0" i="0" dirty="0">
                <a:effectLst/>
                <a:latin typeface="Google Sans Text"/>
              </a:rPr>
              <a:t>」（</a:t>
            </a:r>
            <a:r>
              <a:rPr lang="en-US" altLang="zh-TW" b="0" i="0" dirty="0">
                <a:effectLst/>
                <a:latin typeface="Google Sans Text"/>
              </a:rPr>
              <a:t>3DMAGNSSRTK</a:t>
            </a:r>
            <a:r>
              <a:rPr lang="zh-TW" altLang="en-US" b="0" i="0" dirty="0">
                <a:effectLst/>
                <a:latin typeface="Google Sans Text"/>
              </a:rPr>
              <a:t>）演算法，利用</a:t>
            </a:r>
            <a:r>
              <a:rPr lang="en-US" altLang="zh-TW" b="0" i="0" dirty="0">
                <a:effectLst/>
                <a:latin typeface="Google Sans Text"/>
              </a:rPr>
              <a:t>3D</a:t>
            </a:r>
            <a:r>
              <a:rPr lang="zh-TW" altLang="en-US" b="0" i="0" dirty="0">
                <a:effectLst/>
                <a:latin typeface="Google Sans Text"/>
              </a:rPr>
              <a:t>建築模型搭配「位置假設」（</a:t>
            </a:r>
            <a:r>
              <a:rPr lang="en-US" altLang="zh-TW" b="0" i="0" dirty="0" err="1">
                <a:effectLst/>
                <a:latin typeface="Google Sans Text"/>
              </a:rPr>
              <a:t>positionhypothesis</a:t>
            </a:r>
            <a:r>
              <a:rPr lang="zh-TW" altLang="en-US" b="0" i="0" dirty="0">
                <a:effectLst/>
                <a:latin typeface="Google Sans Text"/>
              </a:rPr>
              <a:t>）來篩選出健康的衛星訊號，從而大幅提升都市環境中的</a:t>
            </a:r>
            <a:r>
              <a:rPr lang="en-US" altLang="zh-TW" b="0" i="0" dirty="0">
                <a:effectLst/>
                <a:latin typeface="Google Sans Text"/>
              </a:rPr>
              <a:t>RTK</a:t>
            </a:r>
            <a:r>
              <a:rPr lang="zh-TW" altLang="en-US" b="0" i="0" dirty="0">
                <a:effectLst/>
                <a:latin typeface="Google Sans Text"/>
              </a:rPr>
              <a:t>定位準確度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27386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43047E-FBFD-4F79-BCA5-10E69740F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093" y="136525"/>
            <a:ext cx="9779183" cy="1325563"/>
          </a:xfrm>
        </p:spPr>
        <p:txBody>
          <a:bodyPr rtlCol="0"/>
          <a:lstStyle/>
          <a:p>
            <a:pPr rtl="0"/>
            <a:r>
              <a:rPr lang="zh-TW" altLang="en-US" dirty="0"/>
              <a:t>摘要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41B8499A-AFB0-445B-AC82-D20B0BEB3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3474"/>
            <a:ext cx="12082272" cy="406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675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/>
          <a:lstStyle/>
          <a:p>
            <a:pPr rtl="0"/>
            <a:r>
              <a:rPr lang="zh-TW" altLang="en-US" dirty="0"/>
              <a:t>理論模型與方法</a:t>
            </a:r>
          </a:p>
        </p:txBody>
      </p:sp>
    </p:spTree>
    <p:extLst>
      <p:ext uri="{BB962C8B-B14F-4D97-AF65-F5344CB8AC3E}">
        <p14:creationId xmlns:p14="http://schemas.microsoft.com/office/powerpoint/2010/main" val="2372444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43047E-FBFD-4F79-BCA5-10E69740F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941" y="258445"/>
            <a:ext cx="9779183" cy="1325563"/>
          </a:xfrm>
        </p:spPr>
        <p:txBody>
          <a:bodyPr rtlCol="0"/>
          <a:lstStyle/>
          <a:p>
            <a:pPr rtl="0"/>
            <a:r>
              <a:rPr lang="zh-TW" altLang="en-US" b="1" i="0" dirty="0">
                <a:effectLst/>
                <a:latin typeface="Google Sans Text"/>
              </a:rPr>
              <a:t>理論模型與方法架構</a:t>
            </a:r>
            <a:br>
              <a:rPr lang="en-US" altLang="zh-TW" b="1" i="0" dirty="0">
                <a:effectLst/>
                <a:latin typeface="Google Sans Text"/>
              </a:rPr>
            </a:br>
            <a:r>
              <a:rPr lang="zh-TW" altLang="en-US" sz="2000" b="0" i="0" dirty="0">
                <a:effectLst/>
                <a:latin typeface="Google Sans Text"/>
              </a:rPr>
              <a:t>本研究所提出的</a:t>
            </a:r>
            <a:r>
              <a:rPr lang="en-US" altLang="zh-TW" sz="2000" b="0" i="0" dirty="0">
                <a:effectLst/>
                <a:latin typeface="Google Sans Text"/>
              </a:rPr>
              <a:t>3DMAGNSSRTK</a:t>
            </a:r>
            <a:r>
              <a:rPr lang="zh-TW" altLang="en-US" sz="2000" b="0" i="0" dirty="0">
                <a:effectLst/>
                <a:latin typeface="Google Sans Text"/>
              </a:rPr>
              <a:t>演算法分為「離線處理」與「線上即時定位」兩個主要階段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3628F89-68B7-7683-E65F-0938CD566576}"/>
              </a:ext>
            </a:extLst>
          </p:cNvPr>
          <p:cNvSpPr txBox="1"/>
          <p:nvPr/>
        </p:nvSpPr>
        <p:spPr>
          <a:xfrm>
            <a:off x="950411" y="1724297"/>
            <a:ext cx="1071036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TW" altLang="en-US" b="1" dirty="0"/>
              <a:t>離線階段</a:t>
            </a:r>
            <a:r>
              <a:rPr lang="en-US" altLang="zh-TW" b="1" dirty="0"/>
              <a:t>(</a:t>
            </a:r>
            <a:r>
              <a:rPr lang="en-US" altLang="zh-TW" b="1" dirty="0" err="1"/>
              <a:t>Skymask</a:t>
            </a:r>
            <a:r>
              <a:rPr lang="zh-TW" altLang="en-US" b="1" dirty="0"/>
              <a:t>生成</a:t>
            </a:r>
            <a:r>
              <a:rPr lang="en-US" altLang="zh-TW" b="1" dirty="0"/>
              <a:t>)</a:t>
            </a:r>
            <a:r>
              <a:rPr lang="zh-TW" altLang="en-US" dirty="0"/>
              <a:t>：</a:t>
            </a:r>
            <a:endParaRPr lang="en-US" altLang="zh-TW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TW" altLang="en-US" dirty="0"/>
              <a:t>事先利用</a:t>
            </a:r>
            <a:r>
              <a:rPr lang="en-US" altLang="zh-TW" dirty="0"/>
              <a:t>3D</a:t>
            </a:r>
            <a:r>
              <a:rPr lang="zh-TW" altLang="en-US" dirty="0"/>
              <a:t>建築模型產生「</a:t>
            </a:r>
            <a:r>
              <a:rPr lang="en-US" altLang="zh-TW" dirty="0" err="1"/>
              <a:t>Skymask</a:t>
            </a:r>
            <a:r>
              <a:rPr lang="zh-TW" altLang="en-US" dirty="0"/>
              <a:t>」（天際線遮罩），這是一種呈現建築物邊界最高仰角的星空圖</a:t>
            </a:r>
            <a:endParaRPr lang="en-US" altLang="zh-TW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TW" altLang="en-US" dirty="0"/>
              <a:t>透過預先計算並儲存在伺服器中，</a:t>
            </a:r>
            <a:r>
              <a:rPr lang="en-US" altLang="zh-TW" dirty="0" err="1"/>
              <a:t>Skymask</a:t>
            </a:r>
            <a:r>
              <a:rPr lang="zh-TW" altLang="en-US" dirty="0"/>
              <a:t>可在定位時用來快速判斷衛星訊號是屬於視距（</a:t>
            </a:r>
            <a:r>
              <a:rPr lang="en-US" altLang="zh-TW" dirty="0"/>
              <a:t>LOS</a:t>
            </a:r>
            <a:r>
              <a:rPr lang="zh-TW" altLang="en-US" dirty="0"/>
              <a:t>）還是非視距（</a:t>
            </a:r>
            <a:r>
              <a:rPr lang="en-US" altLang="zh-TW" dirty="0"/>
              <a:t>NLOS</a:t>
            </a:r>
            <a:r>
              <a:rPr lang="zh-TW" altLang="en-US" dirty="0"/>
              <a:t>）</a:t>
            </a:r>
            <a:endParaRPr lang="en-US" altLang="zh-TW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Google Sans Text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TW" altLang="en-US" b="1" dirty="0"/>
              <a:t>線上階段</a:t>
            </a:r>
            <a:r>
              <a:rPr lang="en-US" altLang="zh-TW" b="1" dirty="0"/>
              <a:t>(</a:t>
            </a:r>
            <a:r>
              <a:rPr lang="zh-TW" altLang="en-US" b="1" dirty="0"/>
              <a:t>即時定位與位置假設評分</a:t>
            </a:r>
            <a:r>
              <a:rPr lang="en-US" altLang="zh-TW" b="1" dirty="0"/>
              <a:t>)</a:t>
            </a: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TW" altLang="en-US" b="1" dirty="0"/>
              <a:t>步驟一（常規</a:t>
            </a:r>
            <a:r>
              <a:rPr lang="en-US" altLang="zh-TW" b="1" dirty="0"/>
              <a:t>RTK</a:t>
            </a:r>
            <a:r>
              <a:rPr lang="zh-TW" altLang="en-US" b="1" dirty="0"/>
              <a:t>初步估算）</a:t>
            </a:r>
            <a:r>
              <a:rPr lang="zh-TW" altLang="en-US" dirty="0"/>
              <a:t>：先利用傳統的雙差分（</a:t>
            </a:r>
            <a:r>
              <a:rPr lang="en-US" altLang="zh-TW" dirty="0"/>
              <a:t>Double-difference</a:t>
            </a:r>
            <a:r>
              <a:rPr lang="zh-TW" altLang="en-US" dirty="0"/>
              <a:t>）量測與最小平方法，計算出接收器的初始浮點解與模糊度</a:t>
            </a:r>
            <a:endParaRPr lang="en-US" altLang="zh-TW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TW" altLang="en-US" b="1" dirty="0"/>
              <a:t>步驟二（候選點分佈與評分）</a:t>
            </a:r>
            <a:r>
              <a:rPr lang="zh-TW" altLang="en-US" dirty="0"/>
              <a:t>：在初始位置周圍以</a:t>
            </a:r>
            <a:r>
              <a:rPr lang="en-US" altLang="zh-TW" dirty="0"/>
              <a:t>5</a:t>
            </a:r>
            <a:r>
              <a:rPr lang="zh-TW" altLang="en-US" dirty="0"/>
              <a:t>公尺半徑、</a:t>
            </a:r>
            <a:r>
              <a:rPr lang="en-US" altLang="zh-TW" dirty="0"/>
              <a:t>50</a:t>
            </a:r>
            <a:r>
              <a:rPr lang="zh-TW" altLang="en-US" dirty="0"/>
              <a:t>公分解析度分佈多個「位置假設候選點」在每個候選點上，利用</a:t>
            </a:r>
            <a:r>
              <a:rPr lang="en-US" altLang="zh-TW" dirty="0" err="1"/>
              <a:t>Skymask</a:t>
            </a:r>
            <a:r>
              <a:rPr lang="zh-TW" altLang="en-US" dirty="0"/>
              <a:t>排除</a:t>
            </a:r>
            <a:r>
              <a:rPr lang="en-US" altLang="zh-TW" dirty="0"/>
              <a:t>NLOS</a:t>
            </a:r>
            <a:r>
              <a:rPr lang="zh-TW" altLang="en-US" dirty="0"/>
              <a:t>衛星，並採用</a:t>
            </a:r>
            <a:r>
              <a:rPr lang="zh-TW" altLang="en-US" b="1" dirty="0"/>
              <a:t>最佳整數等變量（</a:t>
            </a:r>
            <a:r>
              <a:rPr lang="en-US" altLang="zh-TW" b="1" dirty="0"/>
              <a:t>BIE</a:t>
            </a:r>
            <a:r>
              <a:rPr lang="zh-TW" altLang="en-US" b="1" dirty="0"/>
              <a:t>）估計器</a:t>
            </a:r>
            <a:r>
              <a:rPr lang="zh-TW" altLang="en-US" dirty="0"/>
              <a:t>來進行模糊度解算（</a:t>
            </a:r>
            <a:r>
              <a:rPr lang="en-US" altLang="zh-TW" dirty="0"/>
              <a:t>AR</a:t>
            </a:r>
            <a:r>
              <a:rPr lang="zh-TW" altLang="en-US" dirty="0"/>
              <a:t>）隨後，比對解算後的模型載波相位與實際測量值，利用均方誤差（</a:t>
            </a:r>
            <a:r>
              <a:rPr lang="en-US" altLang="zh-TW" dirty="0"/>
              <a:t>MSE</a:t>
            </a:r>
            <a:r>
              <a:rPr lang="zh-TW" altLang="en-US" dirty="0"/>
              <a:t>）為各候選點進行評分，誤差越小得分越高</a:t>
            </a:r>
            <a:endParaRPr lang="en-US" altLang="zh-TW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TW" altLang="en-US" b="1" dirty="0"/>
              <a:t>步驟三（最終定位求解）</a:t>
            </a:r>
            <a:r>
              <a:rPr lang="zh-TW" altLang="en-US" dirty="0"/>
              <a:t>：根據所有候選點的評分進行加權平均，求得一個「準確的浮點位置」接著，以此位置的能見度再次執行衛星篩選與</a:t>
            </a:r>
            <a:r>
              <a:rPr lang="en-US" altLang="zh-TW" dirty="0"/>
              <a:t>BIE</a:t>
            </a:r>
            <a:r>
              <a:rPr lang="zh-TW" altLang="en-US" dirty="0"/>
              <a:t>模糊度解算，輸出最終的高精度</a:t>
            </a:r>
            <a:r>
              <a:rPr lang="en-US" altLang="zh-TW" dirty="0"/>
              <a:t>3DMAGNSSRTK</a:t>
            </a:r>
            <a:r>
              <a:rPr lang="zh-TW" altLang="en-US" dirty="0"/>
              <a:t>定位結果</a:t>
            </a:r>
            <a:endParaRPr lang="en-US" altLang="zh-TW" dirty="0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4101081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1315F-71D1-DD39-5B9D-C6D88F36F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FE70FA-970E-1F66-A6F3-DFD8FF0CF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634" y="1059400"/>
            <a:ext cx="7315200" cy="2387600"/>
          </a:xfrm>
        </p:spPr>
        <p:txBody>
          <a:bodyPr rtlCol="0"/>
          <a:lstStyle/>
          <a:p>
            <a:r>
              <a:rPr lang="zh-TW" altLang="en-US" dirty="0"/>
              <a:t>實驗設計與結果分析</a:t>
            </a:r>
          </a:p>
        </p:txBody>
      </p:sp>
    </p:spTree>
    <p:extLst>
      <p:ext uri="{BB962C8B-B14F-4D97-AF65-F5344CB8AC3E}">
        <p14:creationId xmlns:p14="http://schemas.microsoft.com/office/powerpoint/2010/main" val="3956053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FF7A2-26D9-EFA0-E0A3-B89DAA6F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D26488-2650-72DA-9627-4E1720D51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 dirty="0"/>
              <a:t>實驗設計</a:t>
            </a:r>
            <a:r>
              <a:rPr lang="zh-TW" altLang="en-US" b="0" dirty="0"/>
              <a:t> </a:t>
            </a:r>
            <a:r>
              <a:rPr lang="zh-TW" altLang="en-US" sz="1800" dirty="0"/>
              <a:t>研究團隊在香港的多處市區與郊區峽谷進行靜態實驗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027B3B7-850C-B1F6-CE24-89C313993F78}"/>
              </a:ext>
            </a:extLst>
          </p:cNvPr>
          <p:cNvSpPr txBox="1"/>
          <p:nvPr/>
        </p:nvSpPr>
        <p:spPr>
          <a:xfrm>
            <a:off x="1357312" y="1885950"/>
            <a:ext cx="91297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TW" altLang="en-US" b="1" dirty="0"/>
              <a:t>關鍵指標分析 </a:t>
            </a:r>
            <a:r>
              <a:rPr lang="en-US" altLang="zh-TW" b="1" dirty="0"/>
              <a:t>(ADOP </a:t>
            </a:r>
            <a:r>
              <a:rPr lang="zh-TW" altLang="en-US" b="1" dirty="0"/>
              <a:t>與 </a:t>
            </a:r>
            <a:r>
              <a:rPr lang="en-US" altLang="zh-TW" b="1" dirty="0"/>
              <a:t>PDOP)</a:t>
            </a:r>
            <a:r>
              <a:rPr lang="zh-TW" altLang="en-US" dirty="0"/>
              <a:t>：結果顯示，在導入 </a:t>
            </a:r>
            <a:r>
              <a:rPr lang="en-US" altLang="zh-TW" dirty="0"/>
              <a:t>3DMA </a:t>
            </a:r>
            <a:r>
              <a:rPr lang="zh-TW" altLang="en-US" dirty="0"/>
              <a:t>排除不健康的 </a:t>
            </a:r>
            <a:r>
              <a:rPr lang="en-US" altLang="zh-TW" dirty="0"/>
              <a:t>NLOS </a:t>
            </a:r>
            <a:r>
              <a:rPr lang="zh-TW" altLang="en-US" dirty="0"/>
              <a:t>衛星後，儘管位置精度衰減因子（</a:t>
            </a:r>
            <a:r>
              <a:rPr lang="en-US" altLang="zh-TW" dirty="0"/>
              <a:t>PDOP</a:t>
            </a:r>
            <a:r>
              <a:rPr lang="zh-TW" altLang="en-US" dirty="0"/>
              <a:t>）會略微增加，但</a:t>
            </a:r>
            <a:r>
              <a:rPr lang="zh-TW" altLang="en-US" b="1" dirty="0"/>
              <a:t>模糊度精度衰減因子（</a:t>
            </a:r>
            <a:r>
              <a:rPr lang="en-US" altLang="zh-TW" b="1" dirty="0"/>
              <a:t>ADOP</a:t>
            </a:r>
            <a:r>
              <a:rPr lang="zh-TW" altLang="en-US" b="1" dirty="0"/>
              <a:t>）卻顯著下降（從大於 </a:t>
            </a:r>
            <a:r>
              <a:rPr lang="en-US" altLang="zh-TW" b="1" dirty="0"/>
              <a:t>1 </a:t>
            </a:r>
            <a:r>
              <a:rPr lang="zh-TW" altLang="en-US" b="1" dirty="0"/>
              <a:t>週期降至 </a:t>
            </a:r>
            <a:r>
              <a:rPr lang="en-US" altLang="zh-TW" b="1" dirty="0"/>
              <a:t>0.2 </a:t>
            </a:r>
            <a:r>
              <a:rPr lang="zh-TW" altLang="en-US" b="1" dirty="0"/>
              <a:t>週期以內</a:t>
            </a:r>
            <a:r>
              <a:rPr lang="zh-TW" altLang="en-US" dirty="0"/>
              <a:t>較低的 </a:t>
            </a:r>
            <a:r>
              <a:rPr lang="en-US" altLang="zh-TW" dirty="0"/>
              <a:t>ADOP </a:t>
            </a:r>
            <a:r>
              <a:rPr lang="zh-TW" altLang="en-US" dirty="0"/>
              <a:t>代表模糊度估計的精確性大幅提高，有助於解算出正確的 </a:t>
            </a:r>
            <a:r>
              <a:rPr lang="en-US" altLang="zh-TW" dirty="0"/>
              <a:t>RTK </a:t>
            </a:r>
            <a:r>
              <a:rPr lang="zh-TW" altLang="en-US" dirty="0"/>
              <a:t>定位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>
              <a:latin typeface="Google Sans Text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TW" altLang="en-US" b="1" dirty="0"/>
              <a:t>定位誤差表現</a:t>
            </a:r>
            <a:r>
              <a:rPr lang="zh-TW" altLang="en-US" dirty="0"/>
              <a:t>：</a:t>
            </a:r>
            <a:endParaRPr lang="en-US" altLang="zh-TW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TW" altLang="en-US" dirty="0"/>
              <a:t>在使用測地級接收儀時，</a:t>
            </a:r>
            <a:r>
              <a:rPr lang="en-US" altLang="zh-TW" b="1" dirty="0"/>
              <a:t>3DMA GNSS RTK </a:t>
            </a:r>
            <a:r>
              <a:rPr lang="zh-TW" altLang="en-US" b="1" dirty="0"/>
              <a:t>能夠將都市峽谷環境中的平均定位誤差控制在 </a:t>
            </a:r>
            <a:r>
              <a:rPr lang="en-US" altLang="zh-TW" b="1" dirty="0"/>
              <a:t>10 </a:t>
            </a:r>
            <a:r>
              <a:rPr lang="zh-TW" altLang="en-US" b="1" dirty="0"/>
              <a:t>公分以內</a:t>
            </a:r>
            <a:r>
              <a:rPr lang="zh-TW" altLang="en-US" dirty="0"/>
              <a:t>，表現幾乎等同於擁有完美已知位置的理論最佳解（</a:t>
            </a:r>
            <a:r>
              <a:rPr lang="en-US" altLang="zh-TW" dirty="0"/>
              <a:t>3DMA BIE@GT</a:t>
            </a:r>
            <a:r>
              <a:rPr lang="zh-TW" altLang="en-US" dirty="0"/>
              <a:t>）</a:t>
            </a:r>
            <a:endParaRPr lang="en-US" altLang="zh-TW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zh-TW" altLang="en-US" dirty="0"/>
              <a:t>在建築分佈不均的場景中（實驗 </a:t>
            </a:r>
            <a:r>
              <a:rPr lang="en-US" altLang="zh-TW" dirty="0"/>
              <a:t>4 </a:t>
            </a:r>
            <a:r>
              <a:rPr lang="zh-TW" altLang="en-US" dirty="0"/>
              <a:t>與實驗 </a:t>
            </a:r>
            <a:r>
              <a:rPr lang="en-US" altLang="zh-TW" dirty="0"/>
              <a:t>5</a:t>
            </a:r>
            <a:r>
              <a:rPr lang="zh-TW" altLang="en-US" dirty="0"/>
              <a:t>），傳統提高仰角遮罩（</a:t>
            </a:r>
            <a:r>
              <a:rPr lang="en-US" altLang="zh-TW" dirty="0"/>
              <a:t>BIE@EL35</a:t>
            </a:r>
            <a:r>
              <a:rPr lang="zh-TW" altLang="en-US" dirty="0"/>
              <a:t>）的方法改善有限，而 </a:t>
            </a:r>
            <a:r>
              <a:rPr lang="en-US" altLang="zh-TW" dirty="0"/>
              <a:t>3DMA </a:t>
            </a:r>
            <a:r>
              <a:rPr lang="zh-TW" altLang="en-US" dirty="0"/>
              <a:t>方法則將均方根（</a:t>
            </a:r>
            <a:r>
              <a:rPr lang="en-US" altLang="zh-TW" dirty="0"/>
              <a:t>RMS</a:t>
            </a:r>
            <a:r>
              <a:rPr lang="zh-TW" altLang="en-US" dirty="0"/>
              <a:t>）誤差大幅降低數十公分（如實驗 </a:t>
            </a:r>
            <a:r>
              <a:rPr lang="en-US" altLang="zh-TW" dirty="0"/>
              <a:t>5 </a:t>
            </a:r>
            <a:r>
              <a:rPr lang="zh-TW" altLang="en-US" dirty="0"/>
              <a:t>的誤差從約 </a:t>
            </a:r>
            <a:r>
              <a:rPr lang="en-US" altLang="zh-TW" dirty="0"/>
              <a:t>60 </a:t>
            </a:r>
            <a:r>
              <a:rPr lang="zh-TW" altLang="en-US" dirty="0"/>
              <a:t>公分降至 </a:t>
            </a:r>
            <a:r>
              <a:rPr lang="en-US" altLang="zh-TW" dirty="0"/>
              <a:t>2 </a:t>
            </a:r>
            <a:r>
              <a:rPr lang="zh-TW" altLang="en-US" dirty="0"/>
              <a:t>公分以內）</a:t>
            </a:r>
            <a:endParaRPr lang="en-US" altLang="zh-TW" dirty="0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1211603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37459-543C-B136-B956-1AB2BB358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B69C6C-B567-E727-02BD-552FCF2F3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634" y="1059400"/>
            <a:ext cx="7315200" cy="2387600"/>
          </a:xfrm>
        </p:spPr>
        <p:txBody>
          <a:bodyPr rtlCol="0"/>
          <a:lstStyle/>
          <a:p>
            <a:r>
              <a:rPr lang="zh-TW" altLang="en-US" dirty="0"/>
              <a:t>限制與未來展望</a:t>
            </a:r>
            <a:r>
              <a:rPr lang="zh-TW" altLang="en-US" b="0" dirty="0"/>
              <a:t>：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56627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0F79F-8EEC-5B2B-E80E-01E2D53ED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876E64-E627-B70F-AC4B-6F4B897F3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 dirty="0"/>
              <a:t>限制與未來展望</a:t>
            </a:r>
            <a:r>
              <a:rPr lang="zh-TW" altLang="en-US" b="0" dirty="0"/>
              <a:t>：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622F54B-14EB-FE7B-C5A1-3187CE4ADB2A}"/>
              </a:ext>
            </a:extLst>
          </p:cNvPr>
          <p:cNvSpPr txBox="1"/>
          <p:nvPr/>
        </p:nvSpPr>
        <p:spPr>
          <a:xfrm>
            <a:off x="1357312" y="2199459"/>
            <a:ext cx="9129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zh-TW" altLang="en-US" b="1" dirty="0"/>
              <a:t>運算負載問題</a:t>
            </a:r>
            <a:r>
              <a:rPr lang="zh-TW" altLang="en-US" dirty="0"/>
              <a:t>：由於需要在大量候選點上重複解算，</a:t>
            </a:r>
            <a:r>
              <a:rPr lang="en-US" altLang="zh-TW" dirty="0"/>
              <a:t>3DMA GNSS RTK </a:t>
            </a:r>
            <a:r>
              <a:rPr lang="zh-TW" altLang="en-US" dirty="0"/>
              <a:t>的單次運算時間長達約 </a:t>
            </a:r>
            <a:r>
              <a:rPr lang="en-US" altLang="zh-TW" dirty="0"/>
              <a:t>22 </a:t>
            </a:r>
            <a:r>
              <a:rPr lang="zh-TW" altLang="en-US" dirty="0"/>
              <a:t>秒（傳統方法僅需 </a:t>
            </a:r>
            <a:r>
              <a:rPr lang="en-US" altLang="zh-TW" dirty="0"/>
              <a:t>0.1 </a:t>
            </a:r>
            <a:r>
              <a:rPr lang="zh-TW" altLang="en-US" dirty="0"/>
              <a:t>秒），</a:t>
            </a:r>
            <a:r>
              <a:rPr lang="zh-TW" altLang="en-US" dirty="0">
                <a:solidFill>
                  <a:srgbClr val="FF0000"/>
                </a:solidFill>
              </a:rPr>
              <a:t>目前難以應用於即時運算</a:t>
            </a:r>
            <a:endParaRPr lang="en-US" altLang="zh-TW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altLang="zh-TW" dirty="0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2266363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AF65A7-995A-9F45-891C-82D9B9D40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338" y="1791018"/>
            <a:ext cx="7865326" cy="2810460"/>
          </a:xfrm>
        </p:spPr>
        <p:txBody>
          <a:bodyPr rtlCol="0">
            <a:normAutofit/>
          </a:bodyPr>
          <a:lstStyle/>
          <a:p>
            <a:pPr rtl="0"/>
            <a:r>
              <a:rPr lang="en-US" altLang="zh-TW" sz="4400" dirty="0"/>
              <a:t>END</a:t>
            </a:r>
            <a:endParaRPr lang="zh-TW" altLang="en-US" sz="4400" dirty="0"/>
          </a:p>
        </p:txBody>
      </p:sp>
      <p:sp>
        <p:nvSpPr>
          <p:cNvPr id="13" name="文字版面配置區 5">
            <a:extLst>
              <a:ext uri="{FF2B5EF4-FFF2-40B4-BE49-F238E27FC236}">
                <a16:creationId xmlns:a16="http://schemas.microsoft.com/office/drawing/2014/main" id="{6118A1B7-08BA-6B43-BBA8-952377DF94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2619" y="543354"/>
            <a:ext cx="1364297" cy="1094521"/>
          </a:xfrm>
        </p:spPr>
        <p:txBody>
          <a:bodyPr rtlCol="0"/>
          <a:lstStyle/>
          <a:p>
            <a:pPr rtl="0"/>
            <a:r>
              <a:rPr lang="zh-TW" altLang="en-US"/>
              <a:t>“</a:t>
            </a:r>
          </a:p>
        </p:txBody>
      </p:sp>
      <p:sp>
        <p:nvSpPr>
          <p:cNvPr id="14" name="文字版面配置區 7">
            <a:extLst>
              <a:ext uri="{FF2B5EF4-FFF2-40B4-BE49-F238E27FC236}">
                <a16:creationId xmlns:a16="http://schemas.microsoft.com/office/drawing/2014/main" id="{A1F17760-D90A-AB46-A4E0-31B2684E3F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20876" y="3426615"/>
            <a:ext cx="1364297" cy="1094521"/>
          </a:xfrm>
        </p:spPr>
        <p:txBody>
          <a:bodyPr rtlCol="0"/>
          <a:lstStyle/>
          <a:p>
            <a:pPr rtl="0"/>
            <a:r>
              <a:rPr lang="zh-TW" alt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39983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40C70-407F-54F0-4E34-6EEB8B867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C235C6-AE0C-CDB8-8576-F69A3C4DD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 dirty="0"/>
              <a:t>名詞解釋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6EDC99C-DEC3-6A2B-71C2-010B0E072872}"/>
              </a:ext>
            </a:extLst>
          </p:cNvPr>
          <p:cNvSpPr txBox="1"/>
          <p:nvPr/>
        </p:nvSpPr>
        <p:spPr>
          <a:xfrm>
            <a:off x="1357312" y="2199459"/>
            <a:ext cx="91297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TW" dirty="0"/>
              <a:t>RTK (Real-Time Kinematic) </a:t>
            </a:r>
            <a:r>
              <a:rPr lang="zh-TW" altLang="en-US" dirty="0"/>
              <a:t>：</a:t>
            </a:r>
            <a:r>
              <a:rPr lang="en-US" altLang="zh-TW" dirty="0"/>
              <a:t>RTK </a:t>
            </a:r>
            <a:r>
              <a:rPr lang="zh-TW" altLang="en-US" dirty="0"/>
              <a:t>是一種透過</a:t>
            </a:r>
            <a:r>
              <a:rPr lang="zh-TW" altLang="en-US" b="1" dirty="0"/>
              <a:t>基準站</a:t>
            </a:r>
            <a:r>
              <a:rPr lang="zh-TW" altLang="en-US" dirty="0"/>
              <a:t>發送修正訊號，將 </a:t>
            </a:r>
            <a:r>
              <a:rPr lang="en-US" altLang="zh-TW" dirty="0"/>
              <a:t>GPS </a:t>
            </a:r>
            <a:r>
              <a:rPr lang="zh-TW" altLang="en-US" dirty="0"/>
              <a:t>定位精確度從公尺級提升至</a:t>
            </a:r>
            <a:r>
              <a:rPr lang="zh-TW" altLang="en-US" b="1" dirty="0"/>
              <a:t>公分級</a:t>
            </a:r>
            <a:r>
              <a:rPr lang="zh-TW" altLang="en-US" dirty="0"/>
              <a:t>的即時差分定位技術</a:t>
            </a: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TW" dirty="0"/>
              <a:t>GNSS </a:t>
            </a:r>
            <a:r>
              <a:rPr lang="zh-TW" altLang="en-US" dirty="0"/>
              <a:t>是所有導航衛星系統（如 </a:t>
            </a:r>
            <a:r>
              <a:rPr lang="en-US" altLang="zh-TW" dirty="0"/>
              <a:t>GPS</a:t>
            </a:r>
            <a:r>
              <a:rPr lang="zh-TW" altLang="en-US" dirty="0"/>
              <a:t>、北斗等）的統稱，利用多組衛星群提供全球覆蓋的定位服務。 。</a:t>
            </a:r>
            <a:endParaRPr lang="en-US" altLang="zh-TW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altLang="zh-TW" dirty="0">
              <a:latin typeface="Google Sans Text"/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TW" dirty="0"/>
              <a:t>GNSS RTK</a:t>
            </a:r>
            <a:r>
              <a:rPr lang="zh-TW" altLang="en-US" dirty="0"/>
              <a:t> 是將「全球衛星導航系統 </a:t>
            </a:r>
            <a:r>
              <a:rPr lang="en-US" altLang="zh-TW" dirty="0"/>
              <a:t>(GNSS)</a:t>
            </a:r>
            <a:r>
              <a:rPr lang="zh-TW" altLang="en-US" dirty="0"/>
              <a:t>」與「即時動態差分技術 </a:t>
            </a:r>
            <a:r>
              <a:rPr lang="en-US" altLang="zh-TW" dirty="0"/>
              <a:t>(RTK)</a:t>
            </a:r>
            <a:r>
              <a:rPr lang="zh-TW" altLang="en-US" dirty="0"/>
              <a:t>」結合的技術。它是目前民用領域中，獲取</a:t>
            </a:r>
            <a:r>
              <a:rPr lang="zh-TW" altLang="en-US" b="1" dirty="0"/>
              <a:t>高精度即時位置</a:t>
            </a:r>
            <a:r>
              <a:rPr lang="zh-TW" altLang="en-US" dirty="0"/>
              <a:t>最經濟且高效的方法。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altLang="zh-TW" dirty="0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2521981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257828_TF45331398_Win32" id="{23A4F419-0944-4273-B502-742E5F211EB8}" vid="{3A1ECA11-6685-43D9-8277-0D384E247C8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A615295-94F6-4CE2-A1B1-6B7E1DAA5A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334180-0405-413B-834A-44FA9E05AD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5BAB77-79E1-4739-AA51-10C9079186D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通用簡報</Template>
  <TotalTime>103</TotalTime>
  <Words>927</Words>
  <Application>Microsoft Office PowerPoint</Application>
  <PresentationFormat>寬螢幕</PresentationFormat>
  <Paragraphs>58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Google Sans</vt:lpstr>
      <vt:lpstr>Google Sans Text</vt:lpstr>
      <vt:lpstr>Microsoft JhengHei UI</vt:lpstr>
      <vt:lpstr>Arial</vt:lpstr>
      <vt:lpstr>Tenorite</vt:lpstr>
      <vt:lpstr>Wingdings</vt:lpstr>
      <vt:lpstr>Office 佈景主題</vt:lpstr>
      <vt:lpstr>3D地圖資料庫輔助GNSSRTK及其在都市峽谷中的評估</vt:lpstr>
      <vt:lpstr>主題</vt:lpstr>
      <vt:lpstr>摘要</vt:lpstr>
      <vt:lpstr>摘要</vt:lpstr>
      <vt:lpstr>摘要</vt:lpstr>
      <vt:lpstr>理論模型與方法</vt:lpstr>
      <vt:lpstr>理論模型與方法架構 本研究所提出的3DMAGNSSRTK演算法分為「離線處理」與「線上即時定位」兩個主要階段</vt:lpstr>
      <vt:lpstr>實驗設計與結果分析</vt:lpstr>
      <vt:lpstr>實驗設計 研究團隊在香港的多處市區與郊區峽谷進行靜態實驗</vt:lpstr>
      <vt:lpstr>限制與未來展望：</vt:lpstr>
      <vt:lpstr>限制與未來展望：</vt:lpstr>
      <vt:lpstr>END</vt:lpstr>
      <vt:lpstr>名詞解釋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地圖資料庫輔助GNSS RTK及其在都市峽谷中的評估</dc:title>
  <dc:creator>顓賢 劉</dc:creator>
  <cp:lastModifiedBy>鄭仁靖</cp:lastModifiedBy>
  <cp:revision>6</cp:revision>
  <dcterms:created xsi:type="dcterms:W3CDTF">2026-03-13T07:25:04Z</dcterms:created>
  <dcterms:modified xsi:type="dcterms:W3CDTF">2026-03-13T09:46:14Z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