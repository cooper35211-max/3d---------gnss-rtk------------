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57" r:id="rId6"/>
    <p:sldId id="259" r:id="rId7"/>
    <p:sldId id="261" r:id="rId8"/>
    <p:sldId id="276" r:id="rId9"/>
    <p:sldId id="277" r:id="rId10"/>
    <p:sldId id="278" r:id="rId11"/>
    <p:sldId id="279" r:id="rId12"/>
    <p:sldId id="280" r:id="rId13"/>
    <p:sldId id="286" r:id="rId14"/>
    <p:sldId id="281" r:id="rId15"/>
    <p:sldId id="282" r:id="rId16"/>
    <p:sldId id="273" r:id="rId17"/>
    <p:sldId id="284" r:id="rId18"/>
    <p:sldId id="285" r:id="rId19"/>
  </p:sldIdLst>
  <p:sldSz cx="12192000" cy="685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作者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718"/>
  </p:normalViewPr>
  <p:slideViewPr>
    <p:cSldViewPr snapToGrid="0">
      <p:cViewPr varScale="1">
        <p:scale>
          <a:sx n="106" d="100"/>
          <a:sy n="106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6" d="100"/>
        <a:sy n="126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5388" y="96"/>
      </p:cViewPr>
      <p:guideLst/>
    </p:cSldViewPr>
  </p:notesViewPr>
  <p:gridSpacing cx="120000" cy="12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3B129C17-9205-4554-BF5C-070656C216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B41E939-D5BE-4B7F-BCD2-05DCC4E5E8C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864EF8F-93C5-4541-926C-80DCEAB0E965}" type="datetime1">
              <a:rPr lang="zh-TW" altLang="en-US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2026/3/15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61800B1-1D76-46D4-ADAF-FD5EA7AFB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CBFA674-DC58-422B-8963-09FD1B05ED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A42FE58-2C2A-433E-A3EF-B39ACF97315A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‹#›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635657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6F2E267B-0C99-4BE6-95D3-5B4EB5375E46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 altLang="en-US" noProof="0" dirty="0"/>
              <a:t>按一下以編輯母片文字樣式</a:t>
            </a:r>
          </a:p>
          <a:p>
            <a:pPr lvl="1" rtl="0"/>
            <a:r>
              <a:rPr lang="zh-TW" altLang="en-US" noProof="0" dirty="0"/>
              <a:t>第二層</a:t>
            </a:r>
          </a:p>
          <a:p>
            <a:pPr lvl="2" rtl="0"/>
            <a:r>
              <a:rPr lang="zh-TW" altLang="en-US" noProof="0" dirty="0"/>
              <a:t>第三層</a:t>
            </a:r>
          </a:p>
          <a:p>
            <a:pPr lvl="3" rtl="0"/>
            <a:r>
              <a:rPr lang="zh-TW" altLang="en-US" noProof="0" dirty="0"/>
              <a:t>第四層</a:t>
            </a:r>
          </a:p>
          <a:p>
            <a:pPr lvl="4" rtl="0"/>
            <a:r>
              <a:rPr lang="zh-TW" altLang="en-US" noProof="0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F97DC217-DF71-1A49-B3EA-559F1F43B0FF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777243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41775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7744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247041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030639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74503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4272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E339A-2B31-5D4B-8A57-5EC98E1C6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A5AED4A-17AD-04E9-D30B-F6104C6075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C39C3FC-BD5E-006A-DECA-461F28983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FF7A0E-17C2-5CA9-C183-A4F54DB73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60468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07D15-7A44-3853-CDE4-98E25EB1C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1E2CD4B-5555-556F-5C0E-4F19AB264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9535E9E-2792-BECD-4DBF-F2DD8D1F5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7F53C5-0AB2-F04F-867A-D02D0676D0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940281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B88E4-FAC1-11E4-C6BD-E2E3D926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45B2717-C357-A48A-E464-04714593D4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0F82597-4369-5471-9A8F-15E69DE96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9AB6-88CF-6E91-7D74-93D094859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047286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A4B25-8E16-8043-2E2E-A8C5E88C8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560B40F-4219-64D6-C440-BB39D996F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0FE96CD-3DAD-059E-74A7-E767351F0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BF74D5-585D-4910-31FF-B22222694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21892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C996-C317-4BBF-C14B-C2C3D952F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DEC6F8E-56BA-6278-56FF-EA5DDB1B9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CD4C3BA-49E1-E596-6C67-ECE1F30CF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A563A7-B682-32F9-D8F9-F5E42CAFD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219262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655037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FB2BF-D90E-F41C-2D68-CC8C1B365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C670D5F-B008-DB32-9684-C432A5BEA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ABDCB2-59F5-4313-A672-8FFE566DF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4EB0D-53EC-414A-6289-26C9BB820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057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14B13-C253-FECA-7437-FC2FF25C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C24CE6-D27B-8825-396C-414D6982A7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C1FBBE3-1B68-8CF5-74AF-F7154A07C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0B3349-3DF1-4862-F635-4DF03A389D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F97DC217-DF71-1A49-B3EA-559F1F43B0FF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5584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3" y="1122363"/>
            <a:ext cx="7096933" cy="2387600"/>
          </a:xfrm>
        </p:spPr>
        <p:txBody>
          <a:bodyPr rtlCol="0" anchor="b">
            <a:noAutofit/>
          </a:bodyPr>
          <a:lstStyle>
            <a:lvl1pPr algn="l">
              <a:defRPr sz="60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02038"/>
            <a:ext cx="9500507" cy="806675"/>
          </a:xfrm>
        </p:spPr>
        <p:txBody>
          <a:bodyPr rtlCol="0">
            <a:noAutofit/>
          </a:bodyPr>
          <a:lstStyle>
            <a:lvl1pPr marL="0" indent="0" algn="l">
              <a:buNone/>
              <a:defRPr sz="3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C79249-FDC0-364D-A734-AE1DE1605D28}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橢圓​​ 4">
            <a:extLst>
              <a:ext uri="{FF2B5EF4-FFF2-40B4-BE49-F238E27FC236}">
                <a16:creationId xmlns:a16="http://schemas.microsoft.com/office/drawing/2014/main" id="{902465C8-266D-104C-9C49-323DF4A8277E}"/>
              </a:ext>
            </a:extLst>
          </p:cNvPr>
          <p:cNvSpPr/>
          <p:nvPr userDrawn="1"/>
        </p:nvSpPr>
        <p:spPr>
          <a:xfrm>
            <a:off x="583746" y="4960030"/>
            <a:ext cx="1551214" cy="1551214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手繪多邊形 10">
            <a:extLst>
              <a:ext uri="{FF2B5EF4-FFF2-40B4-BE49-F238E27FC236}">
                <a16:creationId xmlns:a16="http://schemas.microsoft.com/office/drawing/2014/main" id="{37979A1C-BF60-B345-A664-2E4F7A3461EB}"/>
              </a:ext>
            </a:extLst>
          </p:cNvPr>
          <p:cNvSpPr/>
          <p:nvPr userDrawn="1"/>
        </p:nvSpPr>
        <p:spPr>
          <a:xfrm>
            <a:off x="1" y="4571999"/>
            <a:ext cx="1118508" cy="1118508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9" name="手繪多邊形​​(F) 8">
            <a:extLst>
              <a:ext uri="{FF2B5EF4-FFF2-40B4-BE49-F238E27FC236}">
                <a16:creationId xmlns:a16="http://schemas.microsoft.com/office/drawing/2014/main" id="{58080B3E-915C-2D4C-8608-596E1BFD6387}"/>
              </a:ext>
            </a:extLst>
          </p:cNvPr>
          <p:cNvSpPr/>
          <p:nvPr userDrawn="1"/>
        </p:nvSpPr>
        <p:spPr>
          <a:xfrm>
            <a:off x="1" y="5739492"/>
            <a:ext cx="1118508" cy="1118508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F15FBB50-09C8-B64E-AE57-67C5E70810CB}"/>
              </a:ext>
            </a:extLst>
          </p:cNvPr>
          <p:cNvGrpSpPr/>
          <p:nvPr userDrawn="1"/>
        </p:nvGrpSpPr>
        <p:grpSpPr>
          <a:xfrm>
            <a:off x="8264427" y="-3419"/>
            <a:ext cx="3927573" cy="3165022"/>
            <a:chOff x="9857014" y="13834"/>
            <a:chExt cx="2334986" cy="1881641"/>
          </a:xfrm>
        </p:grpSpPr>
        <p:sp>
          <p:nvSpPr>
            <p:cNvPr id="15" name="手繪多邊形​​(F) 14">
              <a:extLst>
                <a:ext uri="{FF2B5EF4-FFF2-40B4-BE49-F238E27FC236}">
                  <a16:creationId xmlns:a16="http://schemas.microsoft.com/office/drawing/2014/main" id="{EFBF1E52-11FA-DC48-B7AD-75734232FFE8}"/>
                </a:ext>
              </a:extLst>
            </p:cNvPr>
            <p:cNvSpPr/>
            <p:nvPr userDrawn="1"/>
          </p:nvSpPr>
          <p:spPr>
            <a:xfrm rot="5400000" flipH="1" flipV="1">
              <a:off x="10667433" y="370908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6" name="手繪多邊形 15">
              <a:extLst>
                <a:ext uri="{FF2B5EF4-FFF2-40B4-BE49-F238E27FC236}">
                  <a16:creationId xmlns:a16="http://schemas.microsoft.com/office/drawing/2014/main" id="{4850B620-49F5-3748-84AF-682555D52792}"/>
                </a:ext>
              </a:extLst>
            </p:cNvPr>
            <p:cNvSpPr/>
            <p:nvPr userDrawn="1"/>
          </p:nvSpPr>
          <p:spPr>
            <a:xfrm rot="16200000" flipV="1">
              <a:off x="9499940" y="370908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sp>
        <p:nvSpPr>
          <p:cNvPr id="22" name="手繪多邊形 21">
            <a:extLst>
              <a:ext uri="{FF2B5EF4-FFF2-40B4-BE49-F238E27FC236}">
                <a16:creationId xmlns:a16="http://schemas.microsoft.com/office/drawing/2014/main" id="{BC68F289-2744-2F48-893A-3F17911625C8}"/>
              </a:ext>
            </a:extLst>
          </p:cNvPr>
          <p:cNvSpPr/>
          <p:nvPr userDrawn="1"/>
        </p:nvSpPr>
        <p:spPr>
          <a:xfrm>
            <a:off x="0" y="-1"/>
            <a:ext cx="1167493" cy="1167493"/>
          </a:xfrm>
          <a:custGeom>
            <a:avLst/>
            <a:gdLst>
              <a:gd name="connsiteX0" fmla="*/ 0 w 862693"/>
              <a:gd name="connsiteY0" fmla="*/ 0 h 862693"/>
              <a:gd name="connsiteX1" fmla="*/ 862693 w 862693"/>
              <a:gd name="connsiteY1" fmla="*/ 0 h 862693"/>
              <a:gd name="connsiteX2" fmla="*/ 0 w 862693"/>
              <a:gd name="connsiteY2" fmla="*/ 862693 h 862693"/>
              <a:gd name="connsiteX3" fmla="*/ 0 w 862693"/>
              <a:gd name="connsiteY3" fmla="*/ 0 h 862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693" h="862693">
                <a:moveTo>
                  <a:pt x="0" y="0"/>
                </a:moveTo>
                <a:lnTo>
                  <a:pt x="862693" y="0"/>
                </a:lnTo>
                <a:cubicBezTo>
                  <a:pt x="862693" y="476453"/>
                  <a:pt x="476452" y="862693"/>
                  <a:pt x="0" y="8626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8" name="手繪多邊形 27">
            <a:extLst>
              <a:ext uri="{FF2B5EF4-FFF2-40B4-BE49-F238E27FC236}">
                <a16:creationId xmlns:a16="http://schemas.microsoft.com/office/drawing/2014/main" id="{9E240E8A-950E-7946-826C-415CB5DACA43}"/>
              </a:ext>
            </a:extLst>
          </p:cNvPr>
          <p:cNvSpPr/>
          <p:nvPr userDrawn="1"/>
        </p:nvSpPr>
        <p:spPr>
          <a:xfrm>
            <a:off x="11024507" y="4580708"/>
            <a:ext cx="1167493" cy="2277292"/>
          </a:xfrm>
          <a:custGeom>
            <a:avLst/>
            <a:gdLst>
              <a:gd name="connsiteX0" fmla="*/ 1167473 w 1167493"/>
              <a:gd name="connsiteY0" fmla="*/ 0 h 2272167"/>
              <a:gd name="connsiteX1" fmla="*/ 1167493 w 1167493"/>
              <a:gd name="connsiteY1" fmla="*/ 0 h 2272167"/>
              <a:gd name="connsiteX2" fmla="*/ 1167493 w 1167493"/>
              <a:gd name="connsiteY2" fmla="*/ 492960 h 2272167"/>
              <a:gd name="connsiteX3" fmla="*/ 1167493 w 1167493"/>
              <a:gd name="connsiteY3" fmla="*/ 720385 h 2272167"/>
              <a:gd name="connsiteX4" fmla="*/ 1167493 w 1167493"/>
              <a:gd name="connsiteY4" fmla="*/ 2272167 h 2272167"/>
              <a:gd name="connsiteX5" fmla="*/ 0 w 1167493"/>
              <a:gd name="connsiteY5" fmla="*/ 2272167 h 2272167"/>
              <a:gd name="connsiteX6" fmla="*/ 0 w 1167493"/>
              <a:gd name="connsiteY6" fmla="*/ 1898074 h 2272167"/>
              <a:gd name="connsiteX7" fmla="*/ 0 w 1167493"/>
              <a:gd name="connsiteY7" fmla="*/ 1271597 h 2272167"/>
              <a:gd name="connsiteX8" fmla="*/ 0 w 1167493"/>
              <a:gd name="connsiteY8" fmla="*/ 1177688 h 2272167"/>
              <a:gd name="connsiteX9" fmla="*/ 1048124 w 1167493"/>
              <a:gd name="connsiteY9" fmla="*/ 6080 h 2272167"/>
              <a:gd name="connsiteX10" fmla="*/ 1167473 w 1167493"/>
              <a:gd name="connsiteY10" fmla="*/ 0 h 2272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67493" h="2272167">
                <a:moveTo>
                  <a:pt x="1167473" y="0"/>
                </a:moveTo>
                <a:lnTo>
                  <a:pt x="1167493" y="0"/>
                </a:lnTo>
                <a:lnTo>
                  <a:pt x="1167493" y="492960"/>
                </a:lnTo>
                <a:lnTo>
                  <a:pt x="1167493" y="720385"/>
                </a:lnTo>
                <a:lnTo>
                  <a:pt x="1167493" y="2272167"/>
                </a:lnTo>
                <a:lnTo>
                  <a:pt x="0" y="2272167"/>
                </a:lnTo>
                <a:lnTo>
                  <a:pt x="0" y="1898074"/>
                </a:lnTo>
                <a:lnTo>
                  <a:pt x="0" y="1271597"/>
                </a:lnTo>
                <a:lnTo>
                  <a:pt x="0" y="1177688"/>
                </a:lnTo>
                <a:cubicBezTo>
                  <a:pt x="0" y="567919"/>
                  <a:pt x="459408" y="66389"/>
                  <a:pt x="1048124" y="6080"/>
                </a:cubicBezTo>
                <a:lnTo>
                  <a:pt x="1167473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017467"/>
            <a:ext cx="9779182" cy="3366815"/>
          </a:xfrm>
        </p:spPr>
        <p:txBody>
          <a:bodyPr rtlCol="0">
            <a:noAutofit/>
          </a:bodyPr>
          <a:lstStyle>
            <a:lvl1pPr marL="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手繪多邊形​​(F) 3">
            <a:extLst>
              <a:ext uri="{FF2B5EF4-FFF2-40B4-BE49-F238E27FC236}">
                <a16:creationId xmlns:a16="http://schemas.microsoft.com/office/drawing/2014/main" id="{6A7F6A3F-E1DD-A246-9A6D-5F9B18BA2588}"/>
              </a:ext>
            </a:extLst>
          </p:cNvPr>
          <p:cNvSpPr/>
          <p:nvPr userDrawn="1"/>
        </p:nvSpPr>
        <p:spPr>
          <a:xfrm flipH="1">
            <a:off x="8580896" y="1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手繪多邊形​​(F) 4">
            <a:extLst>
              <a:ext uri="{FF2B5EF4-FFF2-40B4-BE49-F238E27FC236}">
                <a16:creationId xmlns:a16="http://schemas.microsoft.com/office/drawing/2014/main" id="{055FD0FC-C8FF-6741-A364-A29CDC6F9495}"/>
              </a:ext>
            </a:extLst>
          </p:cNvPr>
          <p:cNvSpPr/>
          <p:nvPr userDrawn="1"/>
        </p:nvSpPr>
        <p:spPr>
          <a:xfrm flipH="1">
            <a:off x="8580896" y="3246896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手繪多邊形 5">
            <a:extLst>
              <a:ext uri="{FF2B5EF4-FFF2-40B4-BE49-F238E27FC236}">
                <a16:creationId xmlns:a16="http://schemas.microsoft.com/office/drawing/2014/main" id="{D11C9832-A021-954E-A34F-2988D1189AE9}"/>
              </a:ext>
            </a:extLst>
          </p:cNvPr>
          <p:cNvSpPr/>
          <p:nvPr userDrawn="1"/>
        </p:nvSpPr>
        <p:spPr>
          <a:xfrm>
            <a:off x="1" y="0"/>
            <a:ext cx="933856" cy="933856"/>
          </a:xfrm>
          <a:custGeom>
            <a:avLst/>
            <a:gdLst>
              <a:gd name="connsiteX0" fmla="*/ 0 w 862693"/>
              <a:gd name="connsiteY0" fmla="*/ 0 h 862693"/>
              <a:gd name="connsiteX1" fmla="*/ 862693 w 862693"/>
              <a:gd name="connsiteY1" fmla="*/ 0 h 862693"/>
              <a:gd name="connsiteX2" fmla="*/ 0 w 862693"/>
              <a:gd name="connsiteY2" fmla="*/ 862693 h 862693"/>
              <a:gd name="connsiteX3" fmla="*/ 0 w 862693"/>
              <a:gd name="connsiteY3" fmla="*/ 0 h 862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693" h="862693">
                <a:moveTo>
                  <a:pt x="0" y="0"/>
                </a:moveTo>
                <a:lnTo>
                  <a:pt x="862693" y="0"/>
                </a:lnTo>
                <a:cubicBezTo>
                  <a:pt x="862693" y="476453"/>
                  <a:pt x="476452" y="862693"/>
                  <a:pt x="0" y="8626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9861BC34-DFBF-2D4F-B463-FCFBC08391FF}"/>
              </a:ext>
            </a:extLst>
          </p:cNvPr>
          <p:cNvGrpSpPr/>
          <p:nvPr userDrawn="1"/>
        </p:nvGrpSpPr>
        <p:grpSpPr>
          <a:xfrm>
            <a:off x="8082092" y="5590903"/>
            <a:ext cx="1572380" cy="1267097"/>
            <a:chOff x="7413403" y="4976359"/>
            <a:chExt cx="2334986" cy="1881641"/>
          </a:xfrm>
        </p:grpSpPr>
        <p:sp>
          <p:nvSpPr>
            <p:cNvPr id="7" name="手繪多邊形​​(F) 6">
              <a:extLst>
                <a:ext uri="{FF2B5EF4-FFF2-40B4-BE49-F238E27FC236}">
                  <a16:creationId xmlns:a16="http://schemas.microsoft.com/office/drawing/2014/main" id="{55C37C19-F268-4A43-A0D4-3B1B38D48952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" name="手繪多邊形​​(F) 7">
              <a:extLst>
                <a:ext uri="{FF2B5EF4-FFF2-40B4-BE49-F238E27FC236}">
                  <a16:creationId xmlns:a16="http://schemas.microsoft.com/office/drawing/2014/main" id="{E4F760E5-9D5D-E44F-AEBF-20CA8DE87D11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sp>
        <p:nvSpPr>
          <p:cNvPr id="10" name="日期版面配置區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771E5EC9-0AE7-4DA6-91A2-BEB118ECAB88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12" name="投影片編號版面配置區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區段標頭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2A62587F-7496-384A-AF40-18FC8CF0709D}"/>
              </a:ext>
            </a:extLst>
          </p:cNvPr>
          <p:cNvSpPr/>
          <p:nvPr userDrawn="1"/>
        </p:nvSpPr>
        <p:spPr>
          <a:xfrm>
            <a:off x="0" y="2286002"/>
            <a:ext cx="12208822" cy="457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手繪多邊形 11">
            <a:extLst>
              <a:ext uri="{FF2B5EF4-FFF2-40B4-BE49-F238E27FC236}">
                <a16:creationId xmlns:a16="http://schemas.microsoft.com/office/drawing/2014/main" id="{84DB028B-A475-224B-B675-A15A56CAD0BF}"/>
              </a:ext>
            </a:extLst>
          </p:cNvPr>
          <p:cNvSpPr/>
          <p:nvPr userDrawn="1"/>
        </p:nvSpPr>
        <p:spPr>
          <a:xfrm flipH="1">
            <a:off x="8597718" y="3246896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手繪多邊形​​(F) 13">
            <a:extLst>
              <a:ext uri="{FF2B5EF4-FFF2-40B4-BE49-F238E27FC236}">
                <a16:creationId xmlns:a16="http://schemas.microsoft.com/office/drawing/2014/main" id="{61C34955-105B-4D4D-B51D-754C5D38A85D}"/>
              </a:ext>
            </a:extLst>
          </p:cNvPr>
          <p:cNvSpPr/>
          <p:nvPr userDrawn="1"/>
        </p:nvSpPr>
        <p:spPr>
          <a:xfrm>
            <a:off x="1" y="0"/>
            <a:ext cx="933856" cy="933856"/>
          </a:xfrm>
          <a:custGeom>
            <a:avLst/>
            <a:gdLst>
              <a:gd name="connsiteX0" fmla="*/ 0 w 862693"/>
              <a:gd name="connsiteY0" fmla="*/ 0 h 862693"/>
              <a:gd name="connsiteX1" fmla="*/ 862693 w 862693"/>
              <a:gd name="connsiteY1" fmla="*/ 0 h 862693"/>
              <a:gd name="connsiteX2" fmla="*/ 0 w 862693"/>
              <a:gd name="connsiteY2" fmla="*/ 862693 h 862693"/>
              <a:gd name="connsiteX3" fmla="*/ 0 w 862693"/>
              <a:gd name="connsiteY3" fmla="*/ 0 h 862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693" h="862693">
                <a:moveTo>
                  <a:pt x="0" y="0"/>
                </a:moveTo>
                <a:lnTo>
                  <a:pt x="862693" y="0"/>
                </a:lnTo>
                <a:cubicBezTo>
                  <a:pt x="862693" y="476453"/>
                  <a:pt x="476452" y="862693"/>
                  <a:pt x="0" y="8626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5" name="手繪多邊形​​(F) 14">
            <a:extLst>
              <a:ext uri="{FF2B5EF4-FFF2-40B4-BE49-F238E27FC236}">
                <a16:creationId xmlns:a16="http://schemas.microsoft.com/office/drawing/2014/main" id="{2734DEB1-EC02-2E42-9292-4ADD115060A5}"/>
              </a:ext>
            </a:extLst>
          </p:cNvPr>
          <p:cNvSpPr/>
          <p:nvPr userDrawn="1"/>
        </p:nvSpPr>
        <p:spPr>
          <a:xfrm rot="5400000" flipH="1" flipV="1">
            <a:off x="10344100" y="438098"/>
            <a:ext cx="2285999" cy="1409801"/>
          </a:xfrm>
          <a:custGeom>
            <a:avLst/>
            <a:gdLst>
              <a:gd name="connsiteX0" fmla="*/ 1881641 w 1881641"/>
              <a:gd name="connsiteY0" fmla="*/ 1167473 h 1167493"/>
              <a:gd name="connsiteX1" fmla="*/ 1881641 w 1881641"/>
              <a:gd name="connsiteY1" fmla="*/ 1167493 h 1167493"/>
              <a:gd name="connsiteX2" fmla="*/ 1167493 w 1881641"/>
              <a:gd name="connsiteY2" fmla="*/ 1167493 h 1167493"/>
              <a:gd name="connsiteX3" fmla="*/ 0 w 1881641"/>
              <a:gd name="connsiteY3" fmla="*/ 0 h 1167493"/>
              <a:gd name="connsiteX4" fmla="*/ 714149 w 1881641"/>
              <a:gd name="connsiteY4" fmla="*/ 0 h 1167493"/>
              <a:gd name="connsiteX5" fmla="*/ 1875614 w 1881641"/>
              <a:gd name="connsiteY5" fmla="*/ 1048124 h 1167493"/>
              <a:gd name="connsiteX6" fmla="*/ 1881641 w 1881641"/>
              <a:gd name="connsiteY6" fmla="*/ 1167473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1641" h="1167493">
                <a:moveTo>
                  <a:pt x="1881641" y="1167473"/>
                </a:moveTo>
                <a:lnTo>
                  <a:pt x="1881641" y="1167493"/>
                </a:lnTo>
                <a:lnTo>
                  <a:pt x="1167493" y="1167493"/>
                </a:lnTo>
                <a:cubicBezTo>
                  <a:pt x="522704" y="1167493"/>
                  <a:pt x="0" y="644789"/>
                  <a:pt x="0" y="0"/>
                </a:cubicBezTo>
                <a:lnTo>
                  <a:pt x="714149" y="0"/>
                </a:lnTo>
                <a:cubicBezTo>
                  <a:pt x="1318639" y="0"/>
                  <a:pt x="1815827" y="459408"/>
                  <a:pt x="1875614" y="1048124"/>
                </a:cubicBezTo>
                <a:lnTo>
                  <a:pt x="1881641" y="116747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標題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67492" y="2653167"/>
            <a:ext cx="9779183" cy="3436483"/>
          </a:xfrm>
        </p:spPr>
        <p:txBody>
          <a:bodyPr rtlCol="0">
            <a:noAutofit/>
          </a:bodyPr>
          <a:lstStyle>
            <a:lvl1pPr marL="0" indent="0">
              <a:lnSpc>
                <a:spcPct val="150000"/>
              </a:lnSpc>
              <a:buNone/>
              <a:defRPr sz="240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D008D3D-DF24-4E70-8D79-942759761C05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手繪多邊形 22">
            <a:extLst>
              <a:ext uri="{FF2B5EF4-FFF2-40B4-BE49-F238E27FC236}">
                <a16:creationId xmlns:a16="http://schemas.microsoft.com/office/drawing/2014/main" id="{067EACEC-C2DD-EA42-8504-176673AD1F20}"/>
              </a:ext>
            </a:extLst>
          </p:cNvPr>
          <p:cNvSpPr/>
          <p:nvPr userDrawn="1"/>
        </p:nvSpPr>
        <p:spPr>
          <a:xfrm>
            <a:off x="0" y="0"/>
            <a:ext cx="8025490" cy="6858000"/>
          </a:xfrm>
          <a:custGeom>
            <a:avLst/>
            <a:gdLst>
              <a:gd name="connsiteX0" fmla="*/ 0 w 8025490"/>
              <a:gd name="connsiteY0" fmla="*/ 0 h 6858000"/>
              <a:gd name="connsiteX1" fmla="*/ 4596490 w 8025490"/>
              <a:gd name="connsiteY1" fmla="*/ 0 h 6858000"/>
              <a:gd name="connsiteX2" fmla="*/ 8025490 w 8025490"/>
              <a:gd name="connsiteY2" fmla="*/ 3429000 h 6858000"/>
              <a:gd name="connsiteX3" fmla="*/ 4596490 w 8025490"/>
              <a:gd name="connsiteY3" fmla="*/ 6858000 h 6858000"/>
              <a:gd name="connsiteX4" fmla="*/ 0 w 8025490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25490" h="6858000">
                <a:moveTo>
                  <a:pt x="0" y="0"/>
                </a:moveTo>
                <a:lnTo>
                  <a:pt x="4596490" y="0"/>
                </a:lnTo>
                <a:cubicBezTo>
                  <a:pt x="6490274" y="0"/>
                  <a:pt x="8025490" y="1535216"/>
                  <a:pt x="8025490" y="3429000"/>
                </a:cubicBezTo>
                <a:cubicBezTo>
                  <a:pt x="8025490" y="5322784"/>
                  <a:pt x="6490274" y="6858000"/>
                  <a:pt x="4596490" y="6858000"/>
                </a:cubicBez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1059400"/>
            <a:ext cx="6245912" cy="2387600"/>
          </a:xfrm>
        </p:spPr>
        <p:txBody>
          <a:bodyPr rtlCol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539075"/>
            <a:ext cx="6245912" cy="1406101"/>
          </a:xfrm>
        </p:spPr>
        <p:txBody>
          <a:bodyPr rtlCol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89843C7E-5704-7A46-8974-F3BFA42E7310}"/>
              </a:ext>
            </a:extLst>
          </p:cNvPr>
          <p:cNvGrpSpPr/>
          <p:nvPr userDrawn="1"/>
        </p:nvGrpSpPr>
        <p:grpSpPr>
          <a:xfrm rot="16200000">
            <a:off x="8286528" y="2207195"/>
            <a:ext cx="3032351" cy="2443610"/>
            <a:chOff x="9857014" y="13834"/>
            <a:chExt cx="2334986" cy="1881641"/>
          </a:xfrm>
        </p:grpSpPr>
        <p:sp>
          <p:nvSpPr>
            <p:cNvPr id="15" name="手繪多邊形​​(F) 14">
              <a:extLst>
                <a:ext uri="{FF2B5EF4-FFF2-40B4-BE49-F238E27FC236}">
                  <a16:creationId xmlns:a16="http://schemas.microsoft.com/office/drawing/2014/main" id="{EFBF1E52-11FA-DC48-B7AD-75734232FFE8}"/>
                </a:ext>
              </a:extLst>
            </p:cNvPr>
            <p:cNvSpPr/>
            <p:nvPr userDrawn="1"/>
          </p:nvSpPr>
          <p:spPr>
            <a:xfrm rot="5400000" flipH="1" flipV="1">
              <a:off x="10667433" y="370908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6" name="手繪多邊形 15">
              <a:extLst>
                <a:ext uri="{FF2B5EF4-FFF2-40B4-BE49-F238E27FC236}">
                  <a16:creationId xmlns:a16="http://schemas.microsoft.com/office/drawing/2014/main" id="{4850B620-49F5-3748-84AF-682555D52792}"/>
                </a:ext>
              </a:extLst>
            </p:cNvPr>
            <p:cNvSpPr/>
            <p:nvPr userDrawn="1"/>
          </p:nvSpPr>
          <p:spPr>
            <a:xfrm rot="16200000" flipV="1">
              <a:off x="9499940" y="370908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sp>
        <p:nvSpPr>
          <p:cNvPr id="17" name="手繪多邊形 16">
            <a:extLst>
              <a:ext uri="{FF2B5EF4-FFF2-40B4-BE49-F238E27FC236}">
                <a16:creationId xmlns:a16="http://schemas.microsoft.com/office/drawing/2014/main" id="{0B179973-08D2-EF40-B516-35E75E906394}"/>
              </a:ext>
            </a:extLst>
          </p:cNvPr>
          <p:cNvSpPr/>
          <p:nvPr userDrawn="1"/>
        </p:nvSpPr>
        <p:spPr>
          <a:xfrm flipH="1">
            <a:off x="8580896" y="1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8" name="手繪多邊形 17">
            <a:extLst>
              <a:ext uri="{FF2B5EF4-FFF2-40B4-BE49-F238E27FC236}">
                <a16:creationId xmlns:a16="http://schemas.microsoft.com/office/drawing/2014/main" id="{6C811FF3-E48A-194D-8022-65F8C3A17449}"/>
              </a:ext>
            </a:extLst>
          </p:cNvPr>
          <p:cNvSpPr/>
          <p:nvPr userDrawn="1"/>
        </p:nvSpPr>
        <p:spPr>
          <a:xfrm flipH="1">
            <a:off x="8580896" y="3246896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圖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087561"/>
            <a:ext cx="9779182" cy="3366815"/>
          </a:xfrm>
        </p:spPr>
        <p:txBody>
          <a:bodyPr rtlCol="0">
            <a:noAutofit/>
          </a:bodyPr>
          <a:lstStyle>
            <a:lvl1pPr marL="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手繪多邊形​​(F) 3">
            <a:extLst>
              <a:ext uri="{FF2B5EF4-FFF2-40B4-BE49-F238E27FC236}">
                <a16:creationId xmlns:a16="http://schemas.microsoft.com/office/drawing/2014/main" id="{6A7F6A3F-E1DD-A246-9A6D-5F9B18BA2588}"/>
              </a:ext>
            </a:extLst>
          </p:cNvPr>
          <p:cNvSpPr/>
          <p:nvPr userDrawn="1"/>
        </p:nvSpPr>
        <p:spPr>
          <a:xfrm flipH="1">
            <a:off x="8580896" y="1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手繪多邊形​​(F) 4">
            <a:extLst>
              <a:ext uri="{FF2B5EF4-FFF2-40B4-BE49-F238E27FC236}">
                <a16:creationId xmlns:a16="http://schemas.microsoft.com/office/drawing/2014/main" id="{055FD0FC-C8FF-6741-A364-A29CDC6F9495}"/>
              </a:ext>
            </a:extLst>
          </p:cNvPr>
          <p:cNvSpPr/>
          <p:nvPr userDrawn="1"/>
        </p:nvSpPr>
        <p:spPr>
          <a:xfrm rot="5400000" flipH="1">
            <a:off x="1" y="3246896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日期版面配置區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9FB5FF82-8C05-4030-AB2C-90DFCE26C19B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12" name="投影片編號版面配置區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69781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圖表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>
            <a:extLst>
              <a:ext uri="{FF2B5EF4-FFF2-40B4-BE49-F238E27FC236}">
                <a16:creationId xmlns:a16="http://schemas.microsoft.com/office/drawing/2014/main" id="{ABA2A58C-57B7-834C-8F5C-3299322411B1}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手繪多邊形​​(F)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4" name="手繪多邊形​​(F)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087563"/>
            <a:ext cx="9779182" cy="3366813"/>
          </a:xfrm>
        </p:spPr>
        <p:txBody>
          <a:bodyPr rtlCol="0">
            <a:noAutofit/>
          </a:bodyPr>
          <a:lstStyle>
            <a:lvl1pPr marL="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0" name="日期版面配置區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D97CEFB-BE58-4E85-9425-C51300490EF7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12" name="投影片編號版面配置區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引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8721" y="1684338"/>
            <a:ext cx="8594558" cy="2810460"/>
          </a:xfrm>
        </p:spPr>
        <p:txBody>
          <a:bodyPr rtlCol="0">
            <a:noAutofit/>
          </a:bodyPr>
          <a:lstStyle>
            <a:lvl1pPr algn="ctr">
              <a:lnSpc>
                <a:spcPct val="100000"/>
              </a:lnSpc>
              <a:defRPr sz="460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4C91C146-F9A8-9A4C-9508-8590923B8D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519405"/>
            <a:ext cx="1364297" cy="1094521"/>
          </a:xfrm>
        </p:spPr>
        <p:txBody>
          <a:bodyPr rtlCol="0">
            <a:noAutofit/>
          </a:bodyPr>
          <a:lstStyle>
            <a:lvl1pPr marL="0" indent="0" algn="ctr">
              <a:buNone/>
              <a:defRPr sz="23900" b="1">
                <a:solidFill>
                  <a:schemeClr val="accent1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2pPr>
            <a:lvl3pPr marL="9144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3pPr>
            <a:lvl4pPr marL="13716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4pPr>
            <a:lvl5pPr marL="18288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5pPr>
          </a:lstStyle>
          <a:p>
            <a:pPr lvl="0" rtl="0"/>
            <a:r>
              <a:rPr lang="zh-TW" altLang="en-US" noProof="0"/>
              <a:t>“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322D6C2B-78AC-DD47-9289-067C968B06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81813" y="4494213"/>
            <a:ext cx="3511550" cy="679450"/>
          </a:xfrm>
        </p:spPr>
        <p:txBody>
          <a:bodyPr rtlCol="0">
            <a:no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 algn="r">
              <a:buNone/>
              <a:defRPr sz="1800">
                <a:solidFill>
                  <a:schemeClr val="bg1"/>
                </a:solidFill>
                <a:latin typeface="Tenorite" pitchFamily="2" charset="0"/>
              </a:defRPr>
            </a:lvl2pPr>
            <a:lvl3pPr marL="914400" indent="0" algn="r">
              <a:buNone/>
              <a:defRPr sz="1600">
                <a:solidFill>
                  <a:schemeClr val="bg1"/>
                </a:solidFill>
                <a:latin typeface="Tenorite" pitchFamily="2" charset="0"/>
              </a:defRPr>
            </a:lvl3pPr>
            <a:lvl4pPr marL="1371600" indent="0" algn="r">
              <a:buNone/>
              <a:defRPr sz="1400">
                <a:solidFill>
                  <a:schemeClr val="bg1"/>
                </a:solidFill>
                <a:latin typeface="Tenorite" pitchFamily="2" charset="0"/>
              </a:defRPr>
            </a:lvl4pPr>
            <a:lvl5pPr marL="1828800" indent="0" algn="r">
              <a:buNone/>
              <a:defRPr sz="1400">
                <a:solidFill>
                  <a:schemeClr val="bg1"/>
                </a:solidFill>
                <a:latin typeface="Tenorite" pitchFamily="2" charset="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9" name="文字版面配置區 7">
            <a:extLst>
              <a:ext uri="{FF2B5EF4-FFF2-40B4-BE49-F238E27FC236}">
                <a16:creationId xmlns:a16="http://schemas.microsoft.com/office/drawing/2014/main" id="{612193CD-03AD-D74D-A5CD-747A9B53F4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609104" y="3399692"/>
            <a:ext cx="1364297" cy="1094521"/>
          </a:xfrm>
        </p:spPr>
        <p:txBody>
          <a:bodyPr rtlCol="0">
            <a:noAutofit/>
          </a:bodyPr>
          <a:lstStyle>
            <a:lvl1pPr marL="0" indent="0" algn="ctr">
              <a:buNone/>
              <a:defRPr sz="23900" b="1">
                <a:solidFill>
                  <a:schemeClr val="accent1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2pPr>
            <a:lvl3pPr marL="9144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3pPr>
            <a:lvl4pPr marL="13716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4pPr>
            <a:lvl5pPr marL="1828800" indent="0">
              <a:buNone/>
              <a:defRPr b="1">
                <a:solidFill>
                  <a:schemeClr val="bg1"/>
                </a:solidFill>
                <a:latin typeface="Tenorite" pitchFamily="2" charset="0"/>
              </a:defRPr>
            </a:lvl5pPr>
          </a:lstStyle>
          <a:p>
            <a:pPr lvl="0" rtl="0"/>
            <a:r>
              <a:rPr lang="zh-TW" altLang="en-US" noProof="0"/>
              <a:t>”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0C71211-4520-46A1-9487-4AE49C323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40F68810-067D-4444-BD62-8A5F6BA385C9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28C225EC-F6EF-1144-834A-F0B91974AA41}"/>
              </a:ext>
            </a:extLst>
          </p:cNvPr>
          <p:cNvSpPr/>
          <p:nvPr userDrawn="1"/>
        </p:nvSpPr>
        <p:spPr>
          <a:xfrm>
            <a:off x="0" y="-1664"/>
            <a:ext cx="9857012" cy="68596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1" name="標題 1">
            <a:extLst>
              <a:ext uri="{FF2B5EF4-FFF2-40B4-BE49-F238E27FC236}">
                <a16:creationId xmlns:a16="http://schemas.microsoft.com/office/drawing/2014/main" id="{1E40CEAF-B1BB-174E-A798-3BA60D9C0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430" y="381000"/>
            <a:ext cx="8401624" cy="1325563"/>
          </a:xfrm>
        </p:spPr>
        <p:txBody>
          <a:bodyPr lIns="0"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6" name="圖片版面配置區 23">
            <a:extLst>
              <a:ext uri="{FF2B5EF4-FFF2-40B4-BE49-F238E27FC236}">
                <a16:creationId xmlns:a16="http://schemas.microsoft.com/office/drawing/2014/main" id="{5E48B363-63E8-4F17-842B-53AD935A652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0429" y="2227758"/>
            <a:ext cx="1200374" cy="1201242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0" name="文字版面配置區 28">
            <a:extLst>
              <a:ext uri="{FF2B5EF4-FFF2-40B4-BE49-F238E27FC236}">
                <a16:creationId xmlns:a16="http://schemas.microsoft.com/office/drawing/2014/main" id="{CC3A7E03-4F06-4380-90A1-845651EEA3C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23351" y="2426400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11" name="文字版面配置區 28">
            <a:extLst>
              <a:ext uri="{FF2B5EF4-FFF2-40B4-BE49-F238E27FC236}">
                <a16:creationId xmlns:a16="http://schemas.microsoft.com/office/drawing/2014/main" id="{31AF5791-727B-438A-A7EF-5D132167C8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23350" y="2811646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7" name="圖片版面配置區 23">
            <a:extLst>
              <a:ext uri="{FF2B5EF4-FFF2-40B4-BE49-F238E27FC236}">
                <a16:creationId xmlns:a16="http://schemas.microsoft.com/office/drawing/2014/main" id="{9ABA5222-6FD6-405B-8AC8-18022C36590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495813" y="2227758"/>
            <a:ext cx="1200374" cy="1201242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2" name="文字版面配置區 28">
            <a:extLst>
              <a:ext uri="{FF2B5EF4-FFF2-40B4-BE49-F238E27FC236}">
                <a16:creationId xmlns:a16="http://schemas.microsoft.com/office/drawing/2014/main" id="{A1A33FCF-D2EB-478E-8679-428657895F7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870817" y="2422565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13" name="文字版面配置區 28">
            <a:extLst>
              <a:ext uri="{FF2B5EF4-FFF2-40B4-BE49-F238E27FC236}">
                <a16:creationId xmlns:a16="http://schemas.microsoft.com/office/drawing/2014/main" id="{55274EF8-F641-41B2-89C1-FD94AFA4868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70816" y="2807811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8" name="圖片版面配置區 23">
            <a:extLst>
              <a:ext uri="{FF2B5EF4-FFF2-40B4-BE49-F238E27FC236}">
                <a16:creationId xmlns:a16="http://schemas.microsoft.com/office/drawing/2014/main" id="{124DE785-775F-4AE4-94B3-FA728188EBA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0429" y="4254273"/>
            <a:ext cx="1200374" cy="1201242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4" name="文字版面配置區 28">
            <a:extLst>
              <a:ext uri="{FF2B5EF4-FFF2-40B4-BE49-F238E27FC236}">
                <a16:creationId xmlns:a16="http://schemas.microsoft.com/office/drawing/2014/main" id="{5A429D4E-B795-4E55-852E-9E161F9EBD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23351" y="4498793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15" name="文字版面配置區 28">
            <a:extLst>
              <a:ext uri="{FF2B5EF4-FFF2-40B4-BE49-F238E27FC236}">
                <a16:creationId xmlns:a16="http://schemas.microsoft.com/office/drawing/2014/main" id="{41D297CB-52EE-4DE4-AEAC-CD4AAF2BF1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23350" y="4884039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9" name="圖片版面配置區 23">
            <a:extLst>
              <a:ext uri="{FF2B5EF4-FFF2-40B4-BE49-F238E27FC236}">
                <a16:creationId xmlns:a16="http://schemas.microsoft.com/office/drawing/2014/main" id="{F5694B35-7776-4DB9-9EB7-3AF076EC357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495813" y="4254273"/>
            <a:ext cx="1200374" cy="1201242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6" name="文字版面配置區 28">
            <a:extLst>
              <a:ext uri="{FF2B5EF4-FFF2-40B4-BE49-F238E27FC236}">
                <a16:creationId xmlns:a16="http://schemas.microsoft.com/office/drawing/2014/main" id="{AD7B736B-3A10-499F-8F23-4437982C823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70817" y="4498793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17" name="文字版面配置區 28">
            <a:extLst>
              <a:ext uri="{FF2B5EF4-FFF2-40B4-BE49-F238E27FC236}">
                <a16:creationId xmlns:a16="http://schemas.microsoft.com/office/drawing/2014/main" id="{07165540-290D-4A38-87DE-F52B05BD6A1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70816" y="4884039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0C71211-4520-46A1-9487-4AE49C3239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1569803" cy="365125"/>
          </a:xfrm>
        </p:spPr>
        <p:txBody>
          <a:bodyPr rtlCol="0">
            <a:noAutofit/>
          </a:bodyPr>
          <a:lstStyle>
            <a:lvl1pPr>
              <a:defRPr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048C0665-835A-4CF9-BF7B-6D8A73E19DEE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71106" y="6356350"/>
            <a:ext cx="4114800" cy="365125"/>
          </a:xfrm>
        </p:spPr>
        <p:txBody>
          <a:bodyPr rtlCol="0">
            <a:noAutofit/>
          </a:bodyPr>
          <a:lstStyle>
            <a:lvl1pPr>
              <a:defRPr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32334" y="6356350"/>
            <a:ext cx="1167495" cy="365125"/>
          </a:xfrm>
        </p:spPr>
        <p:txBody>
          <a:bodyPr rtlCol="0">
            <a:noAutofit/>
          </a:bodyPr>
          <a:lstStyle>
            <a:lvl1pPr>
              <a:defRPr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  <p:sp>
        <p:nvSpPr>
          <p:cNvPr id="19" name="手繪多邊形 18">
            <a:extLst>
              <a:ext uri="{FF2B5EF4-FFF2-40B4-BE49-F238E27FC236}">
                <a16:creationId xmlns:a16="http://schemas.microsoft.com/office/drawing/2014/main" id="{AAB3BC7E-B34F-EF47-B125-1574C5484E22}"/>
              </a:ext>
            </a:extLst>
          </p:cNvPr>
          <p:cNvSpPr/>
          <p:nvPr userDrawn="1"/>
        </p:nvSpPr>
        <p:spPr>
          <a:xfrm rot="16200000" flipV="1">
            <a:off x="9499940" y="355410"/>
            <a:ext cx="1881641" cy="1167493"/>
          </a:xfrm>
          <a:custGeom>
            <a:avLst/>
            <a:gdLst>
              <a:gd name="connsiteX0" fmla="*/ 1881641 w 1881641"/>
              <a:gd name="connsiteY0" fmla="*/ 1167473 h 1167493"/>
              <a:gd name="connsiteX1" fmla="*/ 1881641 w 1881641"/>
              <a:gd name="connsiteY1" fmla="*/ 1167493 h 1167493"/>
              <a:gd name="connsiteX2" fmla="*/ 1167493 w 1881641"/>
              <a:gd name="connsiteY2" fmla="*/ 1167493 h 1167493"/>
              <a:gd name="connsiteX3" fmla="*/ 0 w 1881641"/>
              <a:gd name="connsiteY3" fmla="*/ 0 h 1167493"/>
              <a:gd name="connsiteX4" fmla="*/ 714149 w 1881641"/>
              <a:gd name="connsiteY4" fmla="*/ 0 h 1167493"/>
              <a:gd name="connsiteX5" fmla="*/ 1875614 w 1881641"/>
              <a:gd name="connsiteY5" fmla="*/ 1048124 h 1167493"/>
              <a:gd name="connsiteX6" fmla="*/ 1881641 w 1881641"/>
              <a:gd name="connsiteY6" fmla="*/ 1167473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1641" h="1167493">
                <a:moveTo>
                  <a:pt x="1881641" y="1167473"/>
                </a:moveTo>
                <a:lnTo>
                  <a:pt x="1881641" y="1167493"/>
                </a:lnTo>
                <a:lnTo>
                  <a:pt x="1167493" y="1167493"/>
                </a:lnTo>
                <a:cubicBezTo>
                  <a:pt x="522704" y="1167493"/>
                  <a:pt x="0" y="644789"/>
                  <a:pt x="0" y="0"/>
                </a:cubicBezTo>
                <a:lnTo>
                  <a:pt x="714149" y="0"/>
                </a:lnTo>
                <a:cubicBezTo>
                  <a:pt x="1318639" y="0"/>
                  <a:pt x="1815827" y="459408"/>
                  <a:pt x="1875614" y="1048124"/>
                </a:cubicBezTo>
                <a:lnTo>
                  <a:pt x="1881641" y="116747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1" name="手繪多邊形 20">
            <a:extLst>
              <a:ext uri="{FF2B5EF4-FFF2-40B4-BE49-F238E27FC236}">
                <a16:creationId xmlns:a16="http://schemas.microsoft.com/office/drawing/2014/main" id="{7CBC82D0-4F72-C649-8B7F-D4B087957B6C}"/>
              </a:ext>
            </a:extLst>
          </p:cNvPr>
          <p:cNvSpPr/>
          <p:nvPr userDrawn="1"/>
        </p:nvSpPr>
        <p:spPr>
          <a:xfrm flipH="1">
            <a:off x="10866436" y="1879977"/>
            <a:ext cx="1325563" cy="1325563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5" name="手繪多邊形​​(F) 24">
            <a:extLst>
              <a:ext uri="{FF2B5EF4-FFF2-40B4-BE49-F238E27FC236}">
                <a16:creationId xmlns:a16="http://schemas.microsoft.com/office/drawing/2014/main" id="{9383F23A-D872-2A4C-B386-A9D269BE694D}"/>
              </a:ext>
            </a:extLst>
          </p:cNvPr>
          <p:cNvSpPr/>
          <p:nvPr userDrawn="1"/>
        </p:nvSpPr>
        <p:spPr>
          <a:xfrm>
            <a:off x="11024507" y="-1664"/>
            <a:ext cx="1167494" cy="1881641"/>
          </a:xfrm>
          <a:custGeom>
            <a:avLst/>
            <a:gdLst>
              <a:gd name="connsiteX0" fmla="*/ 1167473 w 1167494"/>
              <a:gd name="connsiteY0" fmla="*/ 0 h 1881641"/>
              <a:gd name="connsiteX1" fmla="*/ 1167493 w 1167494"/>
              <a:gd name="connsiteY1" fmla="*/ 0 h 1881641"/>
              <a:gd name="connsiteX2" fmla="*/ 1167493 w 1167494"/>
              <a:gd name="connsiteY2" fmla="*/ 714148 h 1881641"/>
              <a:gd name="connsiteX3" fmla="*/ 1166666 w 1167494"/>
              <a:gd name="connsiteY3" fmla="*/ 730534 h 1881641"/>
              <a:gd name="connsiteX4" fmla="*/ 1167494 w 1167494"/>
              <a:gd name="connsiteY4" fmla="*/ 730534 h 1881641"/>
              <a:gd name="connsiteX5" fmla="*/ 1167494 w 1167494"/>
              <a:gd name="connsiteY5" fmla="*/ 1378059 h 1881641"/>
              <a:gd name="connsiteX6" fmla="*/ 1167493 w 1167494"/>
              <a:gd name="connsiteY6" fmla="*/ 1378059 h 1881641"/>
              <a:gd name="connsiteX7" fmla="*/ 1167493 w 1167494"/>
              <a:gd name="connsiteY7" fmla="*/ 1881641 h 1881641"/>
              <a:gd name="connsiteX8" fmla="*/ 0 w 1167494"/>
              <a:gd name="connsiteY8" fmla="*/ 1881641 h 1881641"/>
              <a:gd name="connsiteX9" fmla="*/ 0 w 1167494"/>
              <a:gd name="connsiteY9" fmla="*/ 1234116 h 1881641"/>
              <a:gd name="connsiteX10" fmla="*/ 0 w 1167494"/>
              <a:gd name="connsiteY10" fmla="*/ 1167492 h 1881641"/>
              <a:gd name="connsiteX11" fmla="*/ 1048124 w 1167494"/>
              <a:gd name="connsiteY11" fmla="*/ 6027 h 1881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67494" h="1881641">
                <a:moveTo>
                  <a:pt x="1167473" y="0"/>
                </a:moveTo>
                <a:lnTo>
                  <a:pt x="1167493" y="0"/>
                </a:lnTo>
                <a:lnTo>
                  <a:pt x="1167493" y="714148"/>
                </a:lnTo>
                <a:lnTo>
                  <a:pt x="1166666" y="730534"/>
                </a:lnTo>
                <a:lnTo>
                  <a:pt x="1167494" y="730534"/>
                </a:lnTo>
                <a:lnTo>
                  <a:pt x="1167494" y="1378059"/>
                </a:lnTo>
                <a:lnTo>
                  <a:pt x="1167493" y="1378059"/>
                </a:lnTo>
                <a:lnTo>
                  <a:pt x="1167493" y="1881641"/>
                </a:lnTo>
                <a:lnTo>
                  <a:pt x="0" y="1881641"/>
                </a:lnTo>
                <a:lnTo>
                  <a:pt x="0" y="1234116"/>
                </a:lnTo>
                <a:lnTo>
                  <a:pt x="0" y="1167492"/>
                </a:lnTo>
                <a:cubicBezTo>
                  <a:pt x="0" y="563002"/>
                  <a:pt x="459408" y="65814"/>
                  <a:pt x="1048124" y="602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6" name="橢圓​​ 25">
            <a:extLst>
              <a:ext uri="{FF2B5EF4-FFF2-40B4-BE49-F238E27FC236}">
                <a16:creationId xmlns:a16="http://schemas.microsoft.com/office/drawing/2014/main" id="{9221FFDB-AAE2-5943-97A1-82D66AE05DB4}"/>
              </a:ext>
            </a:extLst>
          </p:cNvPr>
          <p:cNvSpPr/>
          <p:nvPr userDrawn="1"/>
        </p:nvSpPr>
        <p:spPr>
          <a:xfrm>
            <a:off x="10334091" y="2737752"/>
            <a:ext cx="1380830" cy="138083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7" name="手繪多邊形​​(F) 26">
            <a:extLst>
              <a:ext uri="{FF2B5EF4-FFF2-40B4-BE49-F238E27FC236}">
                <a16:creationId xmlns:a16="http://schemas.microsoft.com/office/drawing/2014/main" id="{2E58EEF7-63CA-A845-BAC4-9D3BE05918B5}"/>
              </a:ext>
            </a:extLst>
          </p:cNvPr>
          <p:cNvSpPr/>
          <p:nvPr userDrawn="1"/>
        </p:nvSpPr>
        <p:spPr>
          <a:xfrm rot="16200000" flipH="1">
            <a:off x="10667432" y="5333432"/>
            <a:ext cx="1881641" cy="1167493"/>
          </a:xfrm>
          <a:custGeom>
            <a:avLst/>
            <a:gdLst>
              <a:gd name="connsiteX0" fmla="*/ 1881641 w 1881641"/>
              <a:gd name="connsiteY0" fmla="*/ 1167473 h 1167493"/>
              <a:gd name="connsiteX1" fmla="*/ 1881641 w 1881641"/>
              <a:gd name="connsiteY1" fmla="*/ 1167493 h 1167493"/>
              <a:gd name="connsiteX2" fmla="*/ 1167493 w 1881641"/>
              <a:gd name="connsiteY2" fmla="*/ 1167493 h 1167493"/>
              <a:gd name="connsiteX3" fmla="*/ 0 w 1881641"/>
              <a:gd name="connsiteY3" fmla="*/ 0 h 1167493"/>
              <a:gd name="connsiteX4" fmla="*/ 714149 w 1881641"/>
              <a:gd name="connsiteY4" fmla="*/ 0 h 1167493"/>
              <a:gd name="connsiteX5" fmla="*/ 1875614 w 1881641"/>
              <a:gd name="connsiteY5" fmla="*/ 1048124 h 1167493"/>
              <a:gd name="connsiteX6" fmla="*/ 1881641 w 1881641"/>
              <a:gd name="connsiteY6" fmla="*/ 1167473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1641" h="1167493">
                <a:moveTo>
                  <a:pt x="1881641" y="1167473"/>
                </a:moveTo>
                <a:lnTo>
                  <a:pt x="1881641" y="1167493"/>
                </a:lnTo>
                <a:lnTo>
                  <a:pt x="1167493" y="1167493"/>
                </a:lnTo>
                <a:cubicBezTo>
                  <a:pt x="522704" y="1167493"/>
                  <a:pt x="0" y="644789"/>
                  <a:pt x="0" y="0"/>
                </a:cubicBezTo>
                <a:lnTo>
                  <a:pt x="714149" y="0"/>
                </a:lnTo>
                <a:cubicBezTo>
                  <a:pt x="1318639" y="0"/>
                  <a:pt x="1815827" y="459408"/>
                  <a:pt x="1875614" y="1048124"/>
                </a:cubicBezTo>
                <a:lnTo>
                  <a:pt x="1881641" y="116747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8" name="手繪多邊形 27">
            <a:extLst>
              <a:ext uri="{FF2B5EF4-FFF2-40B4-BE49-F238E27FC236}">
                <a16:creationId xmlns:a16="http://schemas.microsoft.com/office/drawing/2014/main" id="{757A4624-D8ED-2E4B-AF8C-00DFA6A72D5F}"/>
              </a:ext>
            </a:extLst>
          </p:cNvPr>
          <p:cNvSpPr/>
          <p:nvPr userDrawn="1"/>
        </p:nvSpPr>
        <p:spPr>
          <a:xfrm flipV="1">
            <a:off x="9857012" y="3651505"/>
            <a:ext cx="1325563" cy="1325563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9" name="手繪多邊形​​(F) 28">
            <a:extLst>
              <a:ext uri="{FF2B5EF4-FFF2-40B4-BE49-F238E27FC236}">
                <a16:creationId xmlns:a16="http://schemas.microsoft.com/office/drawing/2014/main" id="{DF312EF8-91BE-5946-BE31-8CFE107A2FEA}"/>
              </a:ext>
            </a:extLst>
          </p:cNvPr>
          <p:cNvSpPr/>
          <p:nvPr userDrawn="1"/>
        </p:nvSpPr>
        <p:spPr>
          <a:xfrm flipH="1" flipV="1">
            <a:off x="9857013" y="4976359"/>
            <a:ext cx="1167494" cy="1881641"/>
          </a:xfrm>
          <a:custGeom>
            <a:avLst/>
            <a:gdLst>
              <a:gd name="connsiteX0" fmla="*/ 1167473 w 1167494"/>
              <a:gd name="connsiteY0" fmla="*/ 0 h 1881641"/>
              <a:gd name="connsiteX1" fmla="*/ 1167493 w 1167494"/>
              <a:gd name="connsiteY1" fmla="*/ 0 h 1881641"/>
              <a:gd name="connsiteX2" fmla="*/ 1167493 w 1167494"/>
              <a:gd name="connsiteY2" fmla="*/ 714148 h 1881641"/>
              <a:gd name="connsiteX3" fmla="*/ 1166666 w 1167494"/>
              <a:gd name="connsiteY3" fmla="*/ 730534 h 1881641"/>
              <a:gd name="connsiteX4" fmla="*/ 1167494 w 1167494"/>
              <a:gd name="connsiteY4" fmla="*/ 730534 h 1881641"/>
              <a:gd name="connsiteX5" fmla="*/ 1167494 w 1167494"/>
              <a:gd name="connsiteY5" fmla="*/ 1378059 h 1881641"/>
              <a:gd name="connsiteX6" fmla="*/ 1167493 w 1167494"/>
              <a:gd name="connsiteY6" fmla="*/ 1378059 h 1881641"/>
              <a:gd name="connsiteX7" fmla="*/ 1167493 w 1167494"/>
              <a:gd name="connsiteY7" fmla="*/ 1881641 h 1881641"/>
              <a:gd name="connsiteX8" fmla="*/ 0 w 1167494"/>
              <a:gd name="connsiteY8" fmla="*/ 1881641 h 1881641"/>
              <a:gd name="connsiteX9" fmla="*/ 0 w 1167494"/>
              <a:gd name="connsiteY9" fmla="*/ 1234116 h 1881641"/>
              <a:gd name="connsiteX10" fmla="*/ 0 w 1167494"/>
              <a:gd name="connsiteY10" fmla="*/ 1167492 h 1881641"/>
              <a:gd name="connsiteX11" fmla="*/ 1048124 w 1167494"/>
              <a:gd name="connsiteY11" fmla="*/ 6027 h 1881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67494" h="1881641">
                <a:moveTo>
                  <a:pt x="1167473" y="0"/>
                </a:moveTo>
                <a:lnTo>
                  <a:pt x="1167493" y="0"/>
                </a:lnTo>
                <a:lnTo>
                  <a:pt x="1167493" y="714148"/>
                </a:lnTo>
                <a:lnTo>
                  <a:pt x="1166666" y="730534"/>
                </a:lnTo>
                <a:lnTo>
                  <a:pt x="1167494" y="730534"/>
                </a:lnTo>
                <a:lnTo>
                  <a:pt x="1167494" y="1378059"/>
                </a:lnTo>
                <a:lnTo>
                  <a:pt x="1167493" y="1378059"/>
                </a:lnTo>
                <a:lnTo>
                  <a:pt x="1167493" y="1881641"/>
                </a:lnTo>
                <a:lnTo>
                  <a:pt x="0" y="1881641"/>
                </a:lnTo>
                <a:lnTo>
                  <a:pt x="0" y="1234116"/>
                </a:lnTo>
                <a:lnTo>
                  <a:pt x="0" y="1167492"/>
                </a:lnTo>
                <a:cubicBezTo>
                  <a:pt x="0" y="563002"/>
                  <a:pt x="459408" y="65814"/>
                  <a:pt x="1048124" y="6027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4419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整個團隊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標題 1">
            <a:extLst>
              <a:ext uri="{FF2B5EF4-FFF2-40B4-BE49-F238E27FC236}">
                <a16:creationId xmlns:a16="http://schemas.microsoft.com/office/drawing/2014/main" id="{6825B690-1AD7-4243-AC42-D2CF19B7B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430" y="381000"/>
            <a:ext cx="10678142" cy="1325563"/>
          </a:xfrm>
        </p:spPr>
        <p:txBody>
          <a:bodyPr lIns="0"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6" name="圖片版面配置區 23">
            <a:extLst>
              <a:ext uri="{FF2B5EF4-FFF2-40B4-BE49-F238E27FC236}">
                <a16:creationId xmlns:a16="http://schemas.microsoft.com/office/drawing/2014/main" id="{5E48B363-63E8-4F17-842B-53AD935A652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0429" y="2068734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1" name="文字版面配置區 28">
            <a:extLst>
              <a:ext uri="{FF2B5EF4-FFF2-40B4-BE49-F238E27FC236}">
                <a16:creationId xmlns:a16="http://schemas.microsoft.com/office/drawing/2014/main" id="{1825005B-0520-EC49-9A5C-554CB70038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0430" y="2994545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32" name="文字版面配置區 28">
            <a:extLst>
              <a:ext uri="{FF2B5EF4-FFF2-40B4-BE49-F238E27FC236}">
                <a16:creationId xmlns:a16="http://schemas.microsoft.com/office/drawing/2014/main" id="{B6697B92-AF89-2C46-BC1E-6CB47E8EA4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0429" y="3379791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33" name="圖片版面配置區 23">
            <a:extLst>
              <a:ext uri="{FF2B5EF4-FFF2-40B4-BE49-F238E27FC236}">
                <a16:creationId xmlns:a16="http://schemas.microsoft.com/office/drawing/2014/main" id="{FA9FEBB0-45F1-DF45-89C4-B343F8B20BA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549397" y="2068734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4" name="文字版面配置區 28">
            <a:extLst>
              <a:ext uri="{FF2B5EF4-FFF2-40B4-BE49-F238E27FC236}">
                <a16:creationId xmlns:a16="http://schemas.microsoft.com/office/drawing/2014/main" id="{EF331731-A7FC-C245-A9C1-0B1A2E994DB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49398" y="2994545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35" name="文字版面配置區 28">
            <a:extLst>
              <a:ext uri="{FF2B5EF4-FFF2-40B4-BE49-F238E27FC236}">
                <a16:creationId xmlns:a16="http://schemas.microsoft.com/office/drawing/2014/main" id="{313B974E-E762-EE48-B2DF-C8F10DF7344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49397" y="3379791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36" name="圖片版面配置區 23">
            <a:extLst>
              <a:ext uri="{FF2B5EF4-FFF2-40B4-BE49-F238E27FC236}">
                <a16:creationId xmlns:a16="http://schemas.microsoft.com/office/drawing/2014/main" id="{8BA62E8C-79E6-D245-B706-FFB1E051B2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348367" y="2068734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7" name="文字版面配置區 28">
            <a:extLst>
              <a:ext uri="{FF2B5EF4-FFF2-40B4-BE49-F238E27FC236}">
                <a16:creationId xmlns:a16="http://schemas.microsoft.com/office/drawing/2014/main" id="{4199EE50-5386-0446-8ADA-23C1B0D6EA4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8368" y="2994545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38" name="文字版面配置區 28">
            <a:extLst>
              <a:ext uri="{FF2B5EF4-FFF2-40B4-BE49-F238E27FC236}">
                <a16:creationId xmlns:a16="http://schemas.microsoft.com/office/drawing/2014/main" id="{478AB5CA-B5A5-934D-BF51-1485953A703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48367" y="3379791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39" name="圖片版面配置區 23">
            <a:extLst>
              <a:ext uri="{FF2B5EF4-FFF2-40B4-BE49-F238E27FC236}">
                <a16:creationId xmlns:a16="http://schemas.microsoft.com/office/drawing/2014/main" id="{3D78BE06-1FC7-3C43-BD15-F4137B564B58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147335" y="2068734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0" name="文字版面配置區 28">
            <a:extLst>
              <a:ext uri="{FF2B5EF4-FFF2-40B4-BE49-F238E27FC236}">
                <a16:creationId xmlns:a16="http://schemas.microsoft.com/office/drawing/2014/main" id="{14F01FCC-4797-0343-8739-20331C751C1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147336" y="2994545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41" name="文字版面配置區 28">
            <a:extLst>
              <a:ext uri="{FF2B5EF4-FFF2-40B4-BE49-F238E27FC236}">
                <a16:creationId xmlns:a16="http://schemas.microsoft.com/office/drawing/2014/main" id="{33FBE6CA-EC7A-1A4B-ADA3-6B78F2DE09C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147335" y="3379791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42" name="圖片版面配置區 23">
            <a:extLst>
              <a:ext uri="{FF2B5EF4-FFF2-40B4-BE49-F238E27FC236}">
                <a16:creationId xmlns:a16="http://schemas.microsoft.com/office/drawing/2014/main" id="{6DD7CCE4-AD48-B64F-909E-F88961FBDFC5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750429" y="4118551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3" name="文字版面配置區 28">
            <a:extLst>
              <a:ext uri="{FF2B5EF4-FFF2-40B4-BE49-F238E27FC236}">
                <a16:creationId xmlns:a16="http://schemas.microsoft.com/office/drawing/2014/main" id="{C076E7E2-3D95-EA47-BF86-444615F1F14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0430" y="5044362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44" name="文字版面配置區 28">
            <a:extLst>
              <a:ext uri="{FF2B5EF4-FFF2-40B4-BE49-F238E27FC236}">
                <a16:creationId xmlns:a16="http://schemas.microsoft.com/office/drawing/2014/main" id="{612499D2-373C-3940-97A5-FCA8B245B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0429" y="5429608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45" name="圖片版面配置區 23">
            <a:extLst>
              <a:ext uri="{FF2B5EF4-FFF2-40B4-BE49-F238E27FC236}">
                <a16:creationId xmlns:a16="http://schemas.microsoft.com/office/drawing/2014/main" id="{24B34D6D-4F7E-3942-B8D7-9970BDE53C10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549397" y="4118551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6" name="文字版面配置區 28">
            <a:extLst>
              <a:ext uri="{FF2B5EF4-FFF2-40B4-BE49-F238E27FC236}">
                <a16:creationId xmlns:a16="http://schemas.microsoft.com/office/drawing/2014/main" id="{D34EDB1D-7E85-D242-B6AE-F6D6907D325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549398" y="5044362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47" name="文字版面配置區 28">
            <a:extLst>
              <a:ext uri="{FF2B5EF4-FFF2-40B4-BE49-F238E27FC236}">
                <a16:creationId xmlns:a16="http://schemas.microsoft.com/office/drawing/2014/main" id="{3E3BFFF0-114B-6D42-B5E0-8020AC2E26B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549397" y="5429608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48" name="圖片版面配置區 23">
            <a:extLst>
              <a:ext uri="{FF2B5EF4-FFF2-40B4-BE49-F238E27FC236}">
                <a16:creationId xmlns:a16="http://schemas.microsoft.com/office/drawing/2014/main" id="{EB4488EE-E854-724E-95AE-B9943EE249EA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6348367" y="4118551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9" name="文字版面配置區 28">
            <a:extLst>
              <a:ext uri="{FF2B5EF4-FFF2-40B4-BE49-F238E27FC236}">
                <a16:creationId xmlns:a16="http://schemas.microsoft.com/office/drawing/2014/main" id="{C5551B4D-583E-D644-9069-EC096CE76F5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348368" y="5044362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50" name="文字版面配置區 28">
            <a:extLst>
              <a:ext uri="{FF2B5EF4-FFF2-40B4-BE49-F238E27FC236}">
                <a16:creationId xmlns:a16="http://schemas.microsoft.com/office/drawing/2014/main" id="{E30C4783-1643-2243-BB4F-E99E04D9216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348367" y="5429608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51" name="圖片版面配置區 23">
            <a:extLst>
              <a:ext uri="{FF2B5EF4-FFF2-40B4-BE49-F238E27FC236}">
                <a16:creationId xmlns:a16="http://schemas.microsoft.com/office/drawing/2014/main" id="{7BBADCE0-02E8-3249-8CBA-17D3783DFE7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9147335" y="4118551"/>
            <a:ext cx="904987" cy="905641"/>
          </a:xfrm>
        </p:spPr>
        <p:txBody>
          <a:bodyPr rtlCol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52" name="文字版面配置區 28">
            <a:extLst>
              <a:ext uri="{FF2B5EF4-FFF2-40B4-BE49-F238E27FC236}">
                <a16:creationId xmlns:a16="http://schemas.microsoft.com/office/drawing/2014/main" id="{8D294C40-97E4-FF4F-8A02-10FC7D0EE8B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147336" y="5044362"/>
            <a:ext cx="2281237" cy="347662"/>
          </a:xfrm>
        </p:spPr>
        <p:txBody>
          <a:bodyPr lIns="0" tIns="0" rIns="0" bIns="0" rtlCol="0" anchor="b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53" name="文字版面配置區 28">
            <a:extLst>
              <a:ext uri="{FF2B5EF4-FFF2-40B4-BE49-F238E27FC236}">
                <a16:creationId xmlns:a16="http://schemas.microsoft.com/office/drawing/2014/main" id="{8B38241F-01B5-574C-A827-67C6352C463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147335" y="5429608"/>
            <a:ext cx="2281237" cy="347662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spc="2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職稱</a:t>
            </a:r>
          </a:p>
        </p:txBody>
      </p:sp>
      <p:sp>
        <p:nvSpPr>
          <p:cNvPr id="18" name="日期版面配置區 17">
            <a:extLst>
              <a:ext uri="{FF2B5EF4-FFF2-40B4-BE49-F238E27FC236}">
                <a16:creationId xmlns:a16="http://schemas.microsoft.com/office/drawing/2014/main" id="{30445668-2DC5-E84C-8B16-922BC95F13F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675623E1-5DCE-4542-968C-BF94A11D2DD4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22" name="頁尾版面配置區 21">
            <a:extLst>
              <a:ext uri="{FF2B5EF4-FFF2-40B4-BE49-F238E27FC236}">
                <a16:creationId xmlns:a16="http://schemas.microsoft.com/office/drawing/2014/main" id="{D9227732-A878-814C-8621-64ED1B2CCF9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23" name="投影片編號版面配置區 22">
            <a:extLst>
              <a:ext uri="{FF2B5EF4-FFF2-40B4-BE49-F238E27FC236}">
                <a16:creationId xmlns:a16="http://schemas.microsoft.com/office/drawing/2014/main" id="{CE9F02AC-6DFB-0C47-BC8E-4B0594007F3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 rtlCol="0">
            <a:noAutofit/>
          </a:bodyPr>
          <a:lstStyle>
            <a:lvl1pPr>
              <a:defRPr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005721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時間表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手繪多邊形​​(F) 3">
            <a:extLst>
              <a:ext uri="{FF2B5EF4-FFF2-40B4-BE49-F238E27FC236}">
                <a16:creationId xmlns:a16="http://schemas.microsoft.com/office/drawing/2014/main" id="{6A7F6A3F-E1DD-A246-9A6D-5F9B18BA2588}"/>
              </a:ext>
            </a:extLst>
          </p:cNvPr>
          <p:cNvSpPr/>
          <p:nvPr userDrawn="1"/>
        </p:nvSpPr>
        <p:spPr>
          <a:xfrm flipH="1">
            <a:off x="8580896" y="1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手繪多邊形​​(F) 4">
            <a:extLst>
              <a:ext uri="{FF2B5EF4-FFF2-40B4-BE49-F238E27FC236}">
                <a16:creationId xmlns:a16="http://schemas.microsoft.com/office/drawing/2014/main" id="{055FD0FC-C8FF-6741-A364-A29CDC6F9495}"/>
              </a:ext>
            </a:extLst>
          </p:cNvPr>
          <p:cNvSpPr/>
          <p:nvPr userDrawn="1"/>
        </p:nvSpPr>
        <p:spPr>
          <a:xfrm rot="5400000" flipH="1">
            <a:off x="1" y="3246896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 anchor="b">
            <a:noAutofit/>
          </a:bodyPr>
          <a:lstStyle>
            <a:lvl1pPr>
              <a:defRPr sz="4800" b="1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087561"/>
            <a:ext cx="9779182" cy="3366815"/>
          </a:xfrm>
        </p:spPr>
        <p:txBody>
          <a:bodyPr rtlCol="0"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0" name="日期版面配置區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53E2FD9-212C-4634-B9BE-2B64514F2F1C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12" name="投影片編號版面配置區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569275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 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528203"/>
            <a:ext cx="4663440" cy="2828613"/>
          </a:xfrm>
        </p:spPr>
        <p:txBody>
          <a:bodyPr rtlCol="0">
            <a:noAutofit/>
          </a:bodyPr>
          <a:lstStyle>
            <a:lvl1pPr marL="0" indent="0">
              <a:buNone/>
              <a:defRPr sz="20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18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6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手繪多邊形​​(F) 3">
            <a:extLst>
              <a:ext uri="{FF2B5EF4-FFF2-40B4-BE49-F238E27FC236}">
                <a16:creationId xmlns:a16="http://schemas.microsoft.com/office/drawing/2014/main" id="{6A7F6A3F-E1DD-A246-9A6D-5F9B18BA2588}"/>
              </a:ext>
            </a:extLst>
          </p:cNvPr>
          <p:cNvSpPr/>
          <p:nvPr userDrawn="1"/>
        </p:nvSpPr>
        <p:spPr>
          <a:xfrm flipH="1">
            <a:off x="8580896" y="1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手繪多邊形​​(F) 4">
            <a:extLst>
              <a:ext uri="{FF2B5EF4-FFF2-40B4-BE49-F238E27FC236}">
                <a16:creationId xmlns:a16="http://schemas.microsoft.com/office/drawing/2014/main" id="{055FD0FC-C8FF-6741-A364-A29CDC6F9495}"/>
              </a:ext>
            </a:extLst>
          </p:cNvPr>
          <p:cNvSpPr/>
          <p:nvPr userDrawn="1"/>
        </p:nvSpPr>
        <p:spPr>
          <a:xfrm flipH="1">
            <a:off x="8580896" y="3246896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手繪多邊形 5">
            <a:extLst>
              <a:ext uri="{FF2B5EF4-FFF2-40B4-BE49-F238E27FC236}">
                <a16:creationId xmlns:a16="http://schemas.microsoft.com/office/drawing/2014/main" id="{D11C9832-A021-954E-A34F-2988D1189AE9}"/>
              </a:ext>
            </a:extLst>
          </p:cNvPr>
          <p:cNvSpPr/>
          <p:nvPr userDrawn="1"/>
        </p:nvSpPr>
        <p:spPr>
          <a:xfrm>
            <a:off x="1" y="0"/>
            <a:ext cx="933856" cy="933856"/>
          </a:xfrm>
          <a:custGeom>
            <a:avLst/>
            <a:gdLst>
              <a:gd name="connsiteX0" fmla="*/ 0 w 862693"/>
              <a:gd name="connsiteY0" fmla="*/ 0 h 862693"/>
              <a:gd name="connsiteX1" fmla="*/ 862693 w 862693"/>
              <a:gd name="connsiteY1" fmla="*/ 0 h 862693"/>
              <a:gd name="connsiteX2" fmla="*/ 0 w 862693"/>
              <a:gd name="connsiteY2" fmla="*/ 862693 h 862693"/>
              <a:gd name="connsiteX3" fmla="*/ 0 w 862693"/>
              <a:gd name="connsiteY3" fmla="*/ 0 h 862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693" h="862693">
                <a:moveTo>
                  <a:pt x="0" y="0"/>
                </a:moveTo>
                <a:lnTo>
                  <a:pt x="862693" y="0"/>
                </a:lnTo>
                <a:cubicBezTo>
                  <a:pt x="862693" y="476453"/>
                  <a:pt x="476452" y="862693"/>
                  <a:pt x="0" y="8626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9861BC34-DFBF-2D4F-B463-FCFBC08391FF}"/>
              </a:ext>
            </a:extLst>
          </p:cNvPr>
          <p:cNvGrpSpPr/>
          <p:nvPr userDrawn="1"/>
        </p:nvGrpSpPr>
        <p:grpSpPr>
          <a:xfrm>
            <a:off x="8082092" y="5590903"/>
            <a:ext cx="1572380" cy="1267097"/>
            <a:chOff x="7413403" y="4976359"/>
            <a:chExt cx="2334986" cy="1881641"/>
          </a:xfrm>
        </p:grpSpPr>
        <p:sp>
          <p:nvSpPr>
            <p:cNvPr id="7" name="手繪多邊形​​(F) 6">
              <a:extLst>
                <a:ext uri="{FF2B5EF4-FFF2-40B4-BE49-F238E27FC236}">
                  <a16:creationId xmlns:a16="http://schemas.microsoft.com/office/drawing/2014/main" id="{55C37C19-F268-4A43-A0D4-3B1B38D48952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" name="手繪多邊形​​(F) 7">
              <a:extLst>
                <a:ext uri="{FF2B5EF4-FFF2-40B4-BE49-F238E27FC236}">
                  <a16:creationId xmlns:a16="http://schemas.microsoft.com/office/drawing/2014/main" id="{E4F760E5-9D5D-E44F-AEBF-20CA8DE87D11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sp>
        <p:nvSpPr>
          <p:cNvPr id="10" name="日期版面配置區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66B557A9-0E5D-4096-B4AD-E75F2E23F2DD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12" name="投影片編號版面配置區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283235" y="2528203"/>
            <a:ext cx="4663440" cy="2828613"/>
          </a:xfrm>
        </p:spPr>
        <p:txBody>
          <a:bodyPr rtlCol="0">
            <a:noAutofit/>
          </a:bodyPr>
          <a:lstStyle>
            <a:lvl1pPr marL="0" indent="0">
              <a:buNone/>
              <a:defRPr sz="20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18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6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4" name="內容版面配置區 2">
            <a:extLst>
              <a:ext uri="{FF2B5EF4-FFF2-40B4-BE49-F238E27FC236}">
                <a16:creationId xmlns:a16="http://schemas.microsoft.com/office/drawing/2014/main" id="{0B33DABA-7BF5-1147-BA5E-63B92F220E5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167493" y="2005689"/>
            <a:ext cx="4663440" cy="522514"/>
          </a:xfrm>
        </p:spPr>
        <p:txBody>
          <a:bodyPr rtlCol="0">
            <a:noAutofit/>
          </a:bodyPr>
          <a:lstStyle>
            <a:lvl1pPr marL="0" indent="0">
              <a:buNone/>
              <a:defRPr sz="24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20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1B05BEE9-8BC0-EC44-B913-DB6426DF2EA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83235" y="2005689"/>
            <a:ext cx="4663440" cy="522514"/>
          </a:xfrm>
        </p:spPr>
        <p:txBody>
          <a:bodyPr rtlCol="0">
            <a:noAutofit/>
          </a:bodyPr>
          <a:lstStyle>
            <a:lvl1pPr marL="0" indent="0">
              <a:buNone/>
              <a:defRPr sz="24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20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31912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 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 anchor="b">
            <a:noAutofit/>
          </a:bodyPr>
          <a:lstStyle>
            <a:lvl1pPr>
              <a:defRPr sz="4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1" y="2526318"/>
            <a:ext cx="3218688" cy="2828613"/>
          </a:xfrm>
        </p:spPr>
        <p:txBody>
          <a:bodyPr rtlCol="0">
            <a:noAutofit/>
          </a:bodyPr>
          <a:lstStyle>
            <a:lvl1pPr marL="0" indent="0">
              <a:buNone/>
              <a:defRPr sz="20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18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6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手繪多邊形​​(F) 3">
            <a:extLst>
              <a:ext uri="{FF2B5EF4-FFF2-40B4-BE49-F238E27FC236}">
                <a16:creationId xmlns:a16="http://schemas.microsoft.com/office/drawing/2014/main" id="{6A7F6A3F-E1DD-A246-9A6D-5F9B18BA2588}"/>
              </a:ext>
            </a:extLst>
          </p:cNvPr>
          <p:cNvSpPr/>
          <p:nvPr userDrawn="1"/>
        </p:nvSpPr>
        <p:spPr>
          <a:xfrm rot="5400000">
            <a:off x="8580896" y="0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0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lnTo>
                  <a:pt x="1167493" y="0"/>
                </a:lnTo>
                <a:cubicBezTo>
                  <a:pt x="522704" y="0"/>
                  <a:pt x="0" y="522704"/>
                  <a:pt x="0" y="11674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手繪多邊形​​(F) 4">
            <a:extLst>
              <a:ext uri="{FF2B5EF4-FFF2-40B4-BE49-F238E27FC236}">
                <a16:creationId xmlns:a16="http://schemas.microsoft.com/office/drawing/2014/main" id="{055FD0FC-C8FF-6741-A364-A29CDC6F9495}"/>
              </a:ext>
            </a:extLst>
          </p:cNvPr>
          <p:cNvSpPr/>
          <p:nvPr userDrawn="1"/>
        </p:nvSpPr>
        <p:spPr>
          <a:xfrm>
            <a:off x="-2364" y="3246896"/>
            <a:ext cx="3611104" cy="3611104"/>
          </a:xfrm>
          <a:custGeom>
            <a:avLst/>
            <a:gdLst>
              <a:gd name="connsiteX0" fmla="*/ 0 w 1167493"/>
              <a:gd name="connsiteY0" fmla="*/ 0 h 1167493"/>
              <a:gd name="connsiteX1" fmla="*/ 1167493 w 1167493"/>
              <a:gd name="connsiteY1" fmla="*/ 1167493 h 1167493"/>
              <a:gd name="connsiteX2" fmla="*/ 0 w 1167493"/>
              <a:gd name="connsiteY2" fmla="*/ 1167493 h 1167493"/>
              <a:gd name="connsiteX3" fmla="*/ 0 w 1167493"/>
              <a:gd name="connsiteY3" fmla="*/ 0 h 1167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7493" h="1167493">
                <a:moveTo>
                  <a:pt x="0" y="0"/>
                </a:moveTo>
                <a:cubicBezTo>
                  <a:pt x="0" y="644789"/>
                  <a:pt x="522704" y="1167493"/>
                  <a:pt x="1167493" y="1167493"/>
                </a:cubicBezTo>
                <a:lnTo>
                  <a:pt x="0" y="116749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手繪多邊形 5">
            <a:extLst>
              <a:ext uri="{FF2B5EF4-FFF2-40B4-BE49-F238E27FC236}">
                <a16:creationId xmlns:a16="http://schemas.microsoft.com/office/drawing/2014/main" id="{D11C9832-A021-954E-A34F-2988D1189AE9}"/>
              </a:ext>
            </a:extLst>
          </p:cNvPr>
          <p:cNvSpPr/>
          <p:nvPr userDrawn="1"/>
        </p:nvSpPr>
        <p:spPr>
          <a:xfrm rot="5400000" flipH="1">
            <a:off x="11258144" y="5924144"/>
            <a:ext cx="933856" cy="933856"/>
          </a:xfrm>
          <a:custGeom>
            <a:avLst/>
            <a:gdLst>
              <a:gd name="connsiteX0" fmla="*/ 0 w 862693"/>
              <a:gd name="connsiteY0" fmla="*/ 0 h 862693"/>
              <a:gd name="connsiteX1" fmla="*/ 862693 w 862693"/>
              <a:gd name="connsiteY1" fmla="*/ 0 h 862693"/>
              <a:gd name="connsiteX2" fmla="*/ 0 w 862693"/>
              <a:gd name="connsiteY2" fmla="*/ 862693 h 862693"/>
              <a:gd name="connsiteX3" fmla="*/ 0 w 862693"/>
              <a:gd name="connsiteY3" fmla="*/ 0 h 862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693" h="862693">
                <a:moveTo>
                  <a:pt x="0" y="0"/>
                </a:moveTo>
                <a:lnTo>
                  <a:pt x="862693" y="0"/>
                </a:lnTo>
                <a:cubicBezTo>
                  <a:pt x="862693" y="476453"/>
                  <a:pt x="476452" y="862693"/>
                  <a:pt x="0" y="8626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9861BC34-DFBF-2D4F-B463-FCFBC08391FF}"/>
              </a:ext>
            </a:extLst>
          </p:cNvPr>
          <p:cNvGrpSpPr/>
          <p:nvPr userDrawn="1"/>
        </p:nvGrpSpPr>
        <p:grpSpPr>
          <a:xfrm>
            <a:off x="2587417" y="5590903"/>
            <a:ext cx="1572380" cy="1267097"/>
            <a:chOff x="7413403" y="4976359"/>
            <a:chExt cx="2334986" cy="1881641"/>
          </a:xfrm>
        </p:grpSpPr>
        <p:sp>
          <p:nvSpPr>
            <p:cNvPr id="7" name="手繪多邊形​​(F) 6">
              <a:extLst>
                <a:ext uri="{FF2B5EF4-FFF2-40B4-BE49-F238E27FC236}">
                  <a16:creationId xmlns:a16="http://schemas.microsoft.com/office/drawing/2014/main" id="{55C37C19-F268-4A43-A0D4-3B1B38D48952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" name="手繪多邊形​​(F) 7">
              <a:extLst>
                <a:ext uri="{FF2B5EF4-FFF2-40B4-BE49-F238E27FC236}">
                  <a16:creationId xmlns:a16="http://schemas.microsoft.com/office/drawing/2014/main" id="{E4F760E5-9D5D-E44F-AEBF-20CA8DE87D11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sp>
        <p:nvSpPr>
          <p:cNvPr id="10" name="日期版面配置區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6711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F179ADB2-D8DE-499A-9C24-143BE3DCBD4B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83787" y="2526318"/>
            <a:ext cx="3173279" cy="2828613"/>
          </a:xfrm>
        </p:spPr>
        <p:txBody>
          <a:bodyPr rtlCol="0">
            <a:noAutofit/>
          </a:bodyPr>
          <a:lstStyle>
            <a:lvl1pPr marL="0" indent="0">
              <a:buNone/>
              <a:defRPr sz="20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18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6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4" name="內容版面配置區 2">
            <a:extLst>
              <a:ext uri="{FF2B5EF4-FFF2-40B4-BE49-F238E27FC236}">
                <a16:creationId xmlns:a16="http://schemas.microsoft.com/office/drawing/2014/main" id="{0B33DABA-7BF5-1147-BA5E-63B92F220E5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167493" y="2003804"/>
            <a:ext cx="3173278" cy="522514"/>
          </a:xfrm>
        </p:spPr>
        <p:txBody>
          <a:bodyPr rtlCol="0">
            <a:noAutofit/>
          </a:bodyPr>
          <a:lstStyle>
            <a:lvl1pPr marL="0" indent="0">
              <a:buNone/>
              <a:defRPr sz="24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20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1B05BEE9-8BC0-EC44-B913-DB6426DF2EA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683788" y="2003804"/>
            <a:ext cx="3173278" cy="522514"/>
          </a:xfrm>
        </p:spPr>
        <p:txBody>
          <a:bodyPr rtlCol="0">
            <a:noAutofit/>
          </a:bodyPr>
          <a:lstStyle>
            <a:lvl1pPr marL="0" indent="0">
              <a:buNone/>
              <a:defRPr sz="24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20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6" name="內容版面配置區 2">
            <a:extLst>
              <a:ext uri="{FF2B5EF4-FFF2-40B4-BE49-F238E27FC236}">
                <a16:creationId xmlns:a16="http://schemas.microsoft.com/office/drawing/2014/main" id="{43D62993-A055-DF4F-9286-4FFE3A5C7FD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200082" y="2526318"/>
            <a:ext cx="3173279" cy="2828613"/>
          </a:xfrm>
        </p:spPr>
        <p:txBody>
          <a:bodyPr rtlCol="0">
            <a:noAutofit/>
          </a:bodyPr>
          <a:lstStyle>
            <a:lvl1pPr marL="0" indent="0">
              <a:buNone/>
              <a:defRPr sz="20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18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6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4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A896DA2E-4448-254C-86D1-9E16E63CC6A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0083" y="2003804"/>
            <a:ext cx="3173278" cy="522514"/>
          </a:xfrm>
        </p:spPr>
        <p:txBody>
          <a:bodyPr rtlCol="0">
            <a:noAutofit/>
          </a:bodyPr>
          <a:lstStyle>
            <a:lvl1pPr marL="0" indent="0">
              <a:buNone/>
              <a:defRPr sz="24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20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914400" indent="0">
              <a:buNone/>
              <a:defRPr sz="18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13716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 marL="1828800" indent="0">
              <a:buNone/>
              <a:defRPr sz="16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12" name="投影片編號版面配置區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756976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最後一張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1122363"/>
            <a:ext cx="6220278" cy="2387600"/>
          </a:xfrm>
        </p:spPr>
        <p:txBody>
          <a:bodyPr rtlCol="0" anchor="b">
            <a:noAutofit/>
          </a:bodyPr>
          <a:lstStyle>
            <a:lvl1pPr algn="l">
              <a:defRPr sz="6000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02038"/>
            <a:ext cx="6220277" cy="2247219"/>
          </a:xfrm>
        </p:spPr>
        <p:txBody>
          <a:bodyPr rtlCol="0">
            <a:noAutofit/>
          </a:bodyPr>
          <a:lstStyle>
            <a:lvl1pPr marL="0" indent="0" algn="l">
              <a:buNone/>
              <a:defRPr sz="28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C79249-FDC0-364D-A734-AE1DE1605D28}"/>
              </a:ext>
            </a:extLst>
          </p:cNvPr>
          <p:cNvSpPr/>
          <p:nvPr userDrawn="1"/>
        </p:nvSpPr>
        <p:spPr>
          <a:xfrm>
            <a:off x="8264426" y="0"/>
            <a:ext cx="392757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F15FBB50-09C8-B64E-AE57-67C5E70810CB}"/>
              </a:ext>
            </a:extLst>
          </p:cNvPr>
          <p:cNvGrpSpPr/>
          <p:nvPr userDrawn="1"/>
        </p:nvGrpSpPr>
        <p:grpSpPr>
          <a:xfrm>
            <a:off x="8264427" y="3685939"/>
            <a:ext cx="3927573" cy="3178856"/>
            <a:chOff x="9857014" y="13834"/>
            <a:chExt cx="2334986" cy="1881641"/>
          </a:xfrm>
        </p:grpSpPr>
        <p:sp>
          <p:nvSpPr>
            <p:cNvPr id="15" name="手繪多邊形​​(F) 14">
              <a:extLst>
                <a:ext uri="{FF2B5EF4-FFF2-40B4-BE49-F238E27FC236}">
                  <a16:creationId xmlns:a16="http://schemas.microsoft.com/office/drawing/2014/main" id="{EFBF1E52-11FA-DC48-B7AD-75734232FFE8}"/>
                </a:ext>
              </a:extLst>
            </p:cNvPr>
            <p:cNvSpPr/>
            <p:nvPr userDrawn="1"/>
          </p:nvSpPr>
          <p:spPr>
            <a:xfrm rot="5400000" flipH="1" flipV="1">
              <a:off x="10667433" y="370908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6" name="手繪多邊形 15">
              <a:extLst>
                <a:ext uri="{FF2B5EF4-FFF2-40B4-BE49-F238E27FC236}">
                  <a16:creationId xmlns:a16="http://schemas.microsoft.com/office/drawing/2014/main" id="{4850B620-49F5-3748-84AF-682555D52792}"/>
                </a:ext>
              </a:extLst>
            </p:cNvPr>
            <p:cNvSpPr/>
            <p:nvPr userDrawn="1"/>
          </p:nvSpPr>
          <p:spPr>
            <a:xfrm rot="16200000" flipV="1">
              <a:off x="9499940" y="370908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zh-TW" altLang="en-US" noProof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sp>
        <p:nvSpPr>
          <p:cNvPr id="22" name="手繪多邊形 21">
            <a:extLst>
              <a:ext uri="{FF2B5EF4-FFF2-40B4-BE49-F238E27FC236}">
                <a16:creationId xmlns:a16="http://schemas.microsoft.com/office/drawing/2014/main" id="{BC68F289-2744-2F48-893A-3F17911625C8}"/>
              </a:ext>
            </a:extLst>
          </p:cNvPr>
          <p:cNvSpPr/>
          <p:nvPr userDrawn="1"/>
        </p:nvSpPr>
        <p:spPr>
          <a:xfrm>
            <a:off x="0" y="-1"/>
            <a:ext cx="1167493" cy="1167493"/>
          </a:xfrm>
          <a:custGeom>
            <a:avLst/>
            <a:gdLst>
              <a:gd name="connsiteX0" fmla="*/ 0 w 862693"/>
              <a:gd name="connsiteY0" fmla="*/ 0 h 862693"/>
              <a:gd name="connsiteX1" fmla="*/ 862693 w 862693"/>
              <a:gd name="connsiteY1" fmla="*/ 0 h 862693"/>
              <a:gd name="connsiteX2" fmla="*/ 0 w 862693"/>
              <a:gd name="connsiteY2" fmla="*/ 862693 h 862693"/>
              <a:gd name="connsiteX3" fmla="*/ 0 w 862693"/>
              <a:gd name="connsiteY3" fmla="*/ 0 h 862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693" h="862693">
                <a:moveTo>
                  <a:pt x="0" y="0"/>
                </a:moveTo>
                <a:lnTo>
                  <a:pt x="862693" y="0"/>
                </a:lnTo>
                <a:cubicBezTo>
                  <a:pt x="862693" y="476453"/>
                  <a:pt x="476452" y="862693"/>
                  <a:pt x="0" y="862693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7" name="手繪多邊形 16">
            <a:extLst>
              <a:ext uri="{FF2B5EF4-FFF2-40B4-BE49-F238E27FC236}">
                <a16:creationId xmlns:a16="http://schemas.microsoft.com/office/drawing/2014/main" id="{39563C76-BC00-DE47-88F5-C24D3CE3325A}"/>
              </a:ext>
            </a:extLst>
          </p:cNvPr>
          <p:cNvSpPr/>
          <p:nvPr userDrawn="1"/>
        </p:nvSpPr>
        <p:spPr>
          <a:xfrm>
            <a:off x="10228214" y="-1"/>
            <a:ext cx="1963787" cy="3178856"/>
          </a:xfrm>
          <a:custGeom>
            <a:avLst/>
            <a:gdLst>
              <a:gd name="connsiteX0" fmla="*/ 0 w 1963787"/>
              <a:gd name="connsiteY0" fmla="*/ 0 h 3178856"/>
              <a:gd name="connsiteX1" fmla="*/ 1963787 w 1963787"/>
              <a:gd name="connsiteY1" fmla="*/ 0 h 3178856"/>
              <a:gd name="connsiteX2" fmla="*/ 1963787 w 1963787"/>
              <a:gd name="connsiteY2" fmla="*/ 1967129 h 3178856"/>
              <a:gd name="connsiteX3" fmla="*/ 1963787 w 1963787"/>
              <a:gd name="connsiteY3" fmla="*/ 2349671 h 3178856"/>
              <a:gd name="connsiteX4" fmla="*/ 1963787 w 1963787"/>
              <a:gd name="connsiteY4" fmla="*/ 3178856 h 3178856"/>
              <a:gd name="connsiteX5" fmla="*/ 1963753 w 1963787"/>
              <a:gd name="connsiteY5" fmla="*/ 3178856 h 3178856"/>
              <a:gd name="connsiteX6" fmla="*/ 1763002 w 1963787"/>
              <a:gd name="connsiteY6" fmla="*/ 3168629 h 3178856"/>
              <a:gd name="connsiteX7" fmla="*/ 0 w 1963787"/>
              <a:gd name="connsiteY7" fmla="*/ 1197921 h 3178856"/>
              <a:gd name="connsiteX8" fmla="*/ 0 w 1963787"/>
              <a:gd name="connsiteY8" fmla="*/ 1039961 h 3178856"/>
              <a:gd name="connsiteX9" fmla="*/ 0 w 1963787"/>
              <a:gd name="connsiteY9" fmla="*/ 0 h 3178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63787" h="3178856">
                <a:moveTo>
                  <a:pt x="0" y="0"/>
                </a:moveTo>
                <a:lnTo>
                  <a:pt x="1963787" y="0"/>
                </a:lnTo>
                <a:lnTo>
                  <a:pt x="1963787" y="1967129"/>
                </a:lnTo>
                <a:lnTo>
                  <a:pt x="1963787" y="2349671"/>
                </a:lnTo>
                <a:lnTo>
                  <a:pt x="1963787" y="3178856"/>
                </a:lnTo>
                <a:lnTo>
                  <a:pt x="1963753" y="3178856"/>
                </a:lnTo>
                <a:lnTo>
                  <a:pt x="1763002" y="3168629"/>
                </a:lnTo>
                <a:cubicBezTo>
                  <a:pt x="772749" y="3067186"/>
                  <a:pt x="0" y="2223585"/>
                  <a:pt x="0" y="1197921"/>
                </a:cubicBezTo>
                <a:lnTo>
                  <a:pt x="0" y="1039961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FCF827C6-B0FB-4CAB-9C5C-422F7C1B12BD}" type="datetime1">
              <a:rPr lang="zh-TW" altLang="en-US" noProof="0" smtClean="0"/>
              <a:t>2026/3/15</a:t>
            </a:fld>
            <a:endParaRPr lang="zh-TW" altLang="en-US" noProof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294A09A9-5501-47C1-A89A-A340965A2BE2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9" r:id="rId4"/>
    <p:sldLayoutId id="2147483660" r:id="rId5"/>
    <p:sldLayoutId id="2147483661" r:id="rId6"/>
    <p:sldLayoutId id="2147483654" r:id="rId7"/>
    <p:sldLayoutId id="2147483658" r:id="rId8"/>
    <p:sldLayoutId id="2147483662" r:id="rId9"/>
    <p:sldLayoutId id="2147483663" r:id="rId10"/>
    <p:sldLayoutId id="2147483664" r:id="rId11"/>
    <p:sldLayoutId id="2147483665" r:id="rId12"/>
    <p:sldLayoutId id="2147483666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7893" y="1703388"/>
            <a:ext cx="7185932" cy="2387600"/>
          </a:xfrm>
        </p:spPr>
        <p:txBody>
          <a:bodyPr rtlCol="0"/>
          <a:lstStyle/>
          <a:p>
            <a:pPr rtl="0"/>
            <a:r>
              <a:rPr lang="en-US" altLang="zh-TW" sz="3200" b="0" i="0" dirty="0">
                <a:effectLst/>
                <a:latin typeface="Google Sans"/>
              </a:rPr>
              <a:t>3D</a:t>
            </a:r>
            <a:r>
              <a:rPr lang="zh-TW" altLang="en-US" sz="3200" b="0" i="0" dirty="0">
                <a:effectLst/>
                <a:latin typeface="Google Sans"/>
              </a:rPr>
              <a:t>地圖資料庫輔助</a:t>
            </a:r>
            <a:r>
              <a:rPr lang="en-US" altLang="zh-TW" sz="3200" b="0" i="0" dirty="0">
                <a:effectLst/>
                <a:latin typeface="Google Sans"/>
              </a:rPr>
              <a:t>GNSSRTK</a:t>
            </a:r>
            <a:r>
              <a:rPr lang="zh-TW" altLang="en-US" sz="3200" b="0" i="0" dirty="0">
                <a:effectLst/>
                <a:latin typeface="Google Sans"/>
              </a:rPr>
              <a:t>及其在都市峽谷中的評估</a:t>
            </a:r>
            <a:endParaRPr lang="zh-TW" altLang="en-US" sz="32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94EB13D-DB73-4C2A-8841-96EFF9FB65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93" y="1369478"/>
            <a:ext cx="5109482" cy="152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381000"/>
            <a:ext cx="9779183" cy="1325563"/>
          </a:xfrm>
        </p:spPr>
        <p:txBody>
          <a:bodyPr rtlCol="0"/>
          <a:lstStyle/>
          <a:p>
            <a:pPr rtl="0"/>
            <a:r>
              <a:rPr lang="zh-TW" altLang="en-US" dirty="0"/>
              <a:t>主題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493" y="2017467"/>
            <a:ext cx="9779182" cy="33668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zh-TW" altLang="en-US" dirty="0"/>
              <a:t>摘要</a:t>
            </a:r>
          </a:p>
          <a:p>
            <a:pPr rtl="0"/>
            <a:r>
              <a:rPr lang="zh-TW" altLang="en-US" dirty="0"/>
              <a:t>理論模型與方法</a:t>
            </a:r>
          </a:p>
          <a:p>
            <a:pPr rtl="0"/>
            <a:r>
              <a:rPr lang="zh-TW" altLang="en-US" dirty="0"/>
              <a:t>結果分析</a:t>
            </a:r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60295B-54B9-4937-90E3-BAB9CE69E3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1059400"/>
            <a:ext cx="6245912" cy="2387600"/>
          </a:xfrm>
        </p:spPr>
        <p:txBody>
          <a:bodyPr rtlCol="0"/>
          <a:lstStyle/>
          <a:p>
            <a:pPr rtl="0"/>
            <a:r>
              <a:rPr lang="zh-TW" altLang="en-US" dirty="0"/>
              <a:t>摘要</a:t>
            </a:r>
          </a:p>
        </p:txBody>
      </p:sp>
    </p:spTree>
    <p:extLst>
      <p:ext uri="{BB962C8B-B14F-4D97-AF65-F5344CB8AC3E}">
        <p14:creationId xmlns:p14="http://schemas.microsoft.com/office/powerpoint/2010/main" val="3446797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43047E-FBFD-4F79-BCA5-10E69740F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TW" altLang="en-US" dirty="0"/>
              <a:t>摘要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C374BD7-11DE-49C6-96A3-E8255829CFD3}"/>
              </a:ext>
            </a:extLst>
          </p:cNvPr>
          <p:cNvSpPr txBox="1"/>
          <p:nvPr/>
        </p:nvSpPr>
        <p:spPr>
          <a:xfrm>
            <a:off x="1357312" y="1885950"/>
            <a:ext cx="912971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i="0" dirty="0">
                <a:effectLst/>
                <a:latin typeface="Google Sans Text"/>
              </a:rPr>
              <a:t>研究動機</a:t>
            </a:r>
            <a:r>
              <a:rPr lang="zh-TW" altLang="en-US" b="0" i="0" dirty="0">
                <a:effectLst/>
                <a:latin typeface="Google Sans Text"/>
              </a:rPr>
              <a:t>：諸如無人機等新興的自主系統，需要公分級的高精度定位，而即時動態定位技術</a:t>
            </a:r>
            <a:r>
              <a:rPr lang="en-US" altLang="zh-TW" b="0" i="0" dirty="0">
                <a:effectLst/>
                <a:latin typeface="Google Sans Text"/>
              </a:rPr>
              <a:t>(GNSSRTK</a:t>
            </a:r>
            <a:r>
              <a:rPr lang="en-US" altLang="zh-TW" dirty="0">
                <a:latin typeface="Google Sans Text"/>
              </a:rPr>
              <a:t>)</a:t>
            </a:r>
            <a:r>
              <a:rPr lang="zh-TW" altLang="en-US" b="0" i="0" dirty="0">
                <a:effectLst/>
                <a:latin typeface="Google Sans Text"/>
              </a:rPr>
              <a:t>具備滿足此需求的潛力，雖然</a:t>
            </a:r>
            <a:r>
              <a:rPr lang="en-US" altLang="zh-TW" b="0" i="0" dirty="0">
                <a:effectLst/>
                <a:latin typeface="Google Sans Text"/>
              </a:rPr>
              <a:t>RTK</a:t>
            </a:r>
            <a:r>
              <a:rPr lang="zh-TW" altLang="en-US" b="0" i="0" dirty="0">
                <a:effectLst/>
                <a:latin typeface="Google Sans Text"/>
              </a:rPr>
              <a:t>在開闊天空下能提供公分級精度，但在充滿高樓的「都市峽谷」中，因嚴重的多路徑效應</a:t>
            </a:r>
            <a:r>
              <a:rPr lang="en-US" altLang="zh-TW" b="0" i="0" dirty="0">
                <a:effectLst/>
                <a:latin typeface="Google Sans Text"/>
              </a:rPr>
              <a:t>(Multipath)</a:t>
            </a:r>
            <a:r>
              <a:rPr lang="zh-TW" altLang="en-US" b="0" i="0" dirty="0">
                <a:effectLst/>
                <a:latin typeface="Google Sans Text"/>
              </a:rPr>
              <a:t>與非視距</a:t>
            </a:r>
            <a:r>
              <a:rPr lang="en-US" altLang="zh-TW" b="0" i="0" dirty="0">
                <a:effectLst/>
                <a:latin typeface="Google Sans Text"/>
              </a:rPr>
              <a:t>(NLOS)</a:t>
            </a:r>
            <a:r>
              <a:rPr lang="zh-TW" altLang="en-US" b="0" i="0" dirty="0">
                <a:effectLst/>
                <a:latin typeface="Google Sans Text"/>
              </a:rPr>
              <a:t>訊號傳播，其效能受到極大限制</a:t>
            </a:r>
            <a:endParaRPr lang="en-US" altLang="zh-TW" b="0" i="0" dirty="0">
              <a:effectLst/>
              <a:latin typeface="Google Sans Tex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dirty="0">
              <a:latin typeface="Google Sans Text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i="0" dirty="0">
                <a:effectLst/>
                <a:latin typeface="Google Sans Text"/>
              </a:rPr>
              <a:t>現有技術的限制</a:t>
            </a:r>
            <a:r>
              <a:rPr lang="zh-TW" altLang="en-US" b="0" i="0" dirty="0">
                <a:effectLst/>
                <a:latin typeface="Google Sans Text"/>
              </a:rPr>
              <a:t>：為了在都市中維持定位品質，必須排除或修正不健康的測量訊號。傳統的改善方法包含加裝魚眼相機、</a:t>
            </a:r>
            <a:r>
              <a:rPr lang="en-US" altLang="zh-TW" b="0" i="0" dirty="0">
                <a:effectLst/>
                <a:latin typeface="Google Sans Text"/>
              </a:rPr>
              <a:t>3D</a:t>
            </a:r>
            <a:r>
              <a:rPr lang="zh-TW" altLang="en-US" b="0" i="0" dirty="0">
                <a:effectLst/>
                <a:latin typeface="Google Sans Text"/>
              </a:rPr>
              <a:t>光達</a:t>
            </a:r>
            <a:r>
              <a:rPr lang="en-US" altLang="zh-TW" b="0" i="0" dirty="0">
                <a:effectLst/>
                <a:latin typeface="Google Sans Text"/>
              </a:rPr>
              <a:t>(LiDAR)</a:t>
            </a:r>
            <a:r>
              <a:rPr lang="zh-TW" altLang="en-US" b="0" i="0" dirty="0">
                <a:effectLst/>
                <a:latin typeface="Google Sans Text"/>
              </a:rPr>
              <a:t>以識別</a:t>
            </a:r>
            <a:r>
              <a:rPr lang="en-US" altLang="zh-TW" b="0" i="0" dirty="0">
                <a:effectLst/>
                <a:latin typeface="Google Sans Text"/>
              </a:rPr>
              <a:t>NLOS</a:t>
            </a:r>
            <a:r>
              <a:rPr lang="zh-TW" altLang="en-US" b="0" i="0" dirty="0">
                <a:effectLst/>
                <a:latin typeface="Google Sans Text"/>
              </a:rPr>
              <a:t>訊號，或是單純提高衛星仰角遮罩</a:t>
            </a:r>
            <a:r>
              <a:rPr lang="en-US" altLang="zh-TW" b="0" i="0" dirty="0">
                <a:effectLst/>
                <a:latin typeface="Google Sans Text"/>
              </a:rPr>
              <a:t>(</a:t>
            </a:r>
            <a:r>
              <a:rPr lang="zh-TW" altLang="en-US" b="0" i="0" dirty="0">
                <a:effectLst/>
                <a:latin typeface="Google Sans Text"/>
              </a:rPr>
              <a:t>例如設定</a:t>
            </a:r>
            <a:r>
              <a:rPr lang="en-US" altLang="zh-TW" b="0" i="0" dirty="0">
                <a:effectLst/>
                <a:latin typeface="Google Sans Text"/>
              </a:rPr>
              <a:t>35</a:t>
            </a:r>
            <a:r>
              <a:rPr lang="zh-TW" altLang="en-US" b="0" i="0" dirty="0">
                <a:effectLst/>
                <a:latin typeface="Google Sans Text"/>
              </a:rPr>
              <a:t>度以上的仰角</a:t>
            </a:r>
            <a:r>
              <a:rPr lang="en-US" altLang="zh-TW" b="0" i="0" dirty="0">
                <a:effectLst/>
                <a:latin typeface="Google Sans Text"/>
              </a:rPr>
              <a:t>)</a:t>
            </a:r>
            <a:r>
              <a:rPr lang="zh-TW" altLang="en-US" b="0" i="0" dirty="0">
                <a:effectLst/>
                <a:latin typeface="Google Sans Text"/>
              </a:rPr>
              <a:t>。然而，額外硬體不適用於所有情境，且固定的仰角遮罩在建築物分佈不均的環境中效果有限</a:t>
            </a:r>
            <a:endParaRPr lang="en-US" altLang="zh-TW" dirty="0">
              <a:latin typeface="Google Sans Tex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dirty="0">
              <a:latin typeface="Google Sans Text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i="0" dirty="0">
                <a:effectLst/>
                <a:latin typeface="Google Sans Text"/>
              </a:rPr>
              <a:t>本篇核心貢獻</a:t>
            </a:r>
            <a:r>
              <a:rPr lang="zh-TW" altLang="en-US" b="0" i="0" dirty="0">
                <a:effectLst/>
                <a:latin typeface="Google Sans Text"/>
              </a:rPr>
              <a:t>：提出「</a:t>
            </a:r>
            <a:r>
              <a:rPr lang="en-US" altLang="zh-TW" b="1" i="0" dirty="0">
                <a:effectLst/>
                <a:latin typeface="Google Sans Text"/>
              </a:rPr>
              <a:t>3D</a:t>
            </a:r>
            <a:r>
              <a:rPr lang="zh-TW" altLang="en-US" b="1" i="0" dirty="0">
                <a:effectLst/>
                <a:latin typeface="Google Sans Text"/>
              </a:rPr>
              <a:t>地圖資料庫輔助</a:t>
            </a:r>
            <a:r>
              <a:rPr lang="en-US" altLang="zh-TW" b="1" i="0" dirty="0">
                <a:effectLst/>
                <a:latin typeface="Google Sans Text"/>
              </a:rPr>
              <a:t>GNSSRTK</a:t>
            </a:r>
            <a:r>
              <a:rPr lang="zh-TW" altLang="en-US" b="0" i="0" dirty="0">
                <a:effectLst/>
                <a:latin typeface="Google Sans Text"/>
              </a:rPr>
              <a:t>」</a:t>
            </a:r>
            <a:r>
              <a:rPr lang="en-US" altLang="zh-TW" b="0" i="0" dirty="0">
                <a:effectLst/>
                <a:latin typeface="Google Sans Text"/>
              </a:rPr>
              <a:t>(3DMAGNSSRTK)</a:t>
            </a:r>
            <a:r>
              <a:rPr lang="zh-TW" altLang="en-US" b="0" i="0" dirty="0">
                <a:effectLst/>
                <a:latin typeface="Google Sans Text"/>
              </a:rPr>
              <a:t>演算法，利用</a:t>
            </a:r>
            <a:r>
              <a:rPr lang="en-US" altLang="zh-TW" b="0" i="0" dirty="0">
                <a:effectLst/>
                <a:latin typeface="Google Sans Text"/>
              </a:rPr>
              <a:t>3D</a:t>
            </a:r>
            <a:r>
              <a:rPr lang="zh-TW" altLang="en-US" b="0" i="0" dirty="0">
                <a:effectLst/>
                <a:latin typeface="Google Sans Text"/>
              </a:rPr>
              <a:t>建築模型搭配「位置假設」</a:t>
            </a:r>
            <a:r>
              <a:rPr lang="en-US" altLang="zh-TW" b="0" i="0" dirty="0">
                <a:effectLst/>
                <a:latin typeface="Google Sans Text"/>
              </a:rPr>
              <a:t>(</a:t>
            </a:r>
            <a:r>
              <a:rPr lang="en-US" altLang="zh-TW" b="0" i="0" dirty="0" err="1">
                <a:effectLst/>
                <a:latin typeface="Google Sans Text"/>
              </a:rPr>
              <a:t>positionhypothesis</a:t>
            </a:r>
            <a:r>
              <a:rPr lang="en-US" altLang="zh-TW" b="0" i="0" dirty="0">
                <a:effectLst/>
                <a:latin typeface="Google Sans Text"/>
              </a:rPr>
              <a:t>)</a:t>
            </a:r>
            <a:r>
              <a:rPr lang="zh-TW" altLang="en-US" b="0" i="0" dirty="0">
                <a:effectLst/>
                <a:latin typeface="Google Sans Text"/>
              </a:rPr>
              <a:t>來篩選出健康的衛星訊號，從而大幅提升都市環境中的</a:t>
            </a:r>
            <a:r>
              <a:rPr lang="en-US" altLang="zh-TW" b="0" i="0" dirty="0">
                <a:effectLst/>
                <a:latin typeface="Google Sans Text"/>
              </a:rPr>
              <a:t>RTK</a:t>
            </a:r>
            <a:r>
              <a:rPr lang="zh-TW" altLang="en-US" b="0" i="0" dirty="0">
                <a:effectLst/>
                <a:latin typeface="Google Sans Text"/>
              </a:rPr>
              <a:t>定位準確度</a:t>
            </a:r>
            <a:endParaRPr lang="zh-TW" altLang="en-US" dirty="0">
              <a:latin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27386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43047E-FBFD-4F79-BCA5-10E69740F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093" y="136525"/>
            <a:ext cx="9779183" cy="1325563"/>
          </a:xfrm>
        </p:spPr>
        <p:txBody>
          <a:bodyPr rtlCol="0"/>
          <a:lstStyle/>
          <a:p>
            <a:pPr rtl="0"/>
            <a:r>
              <a:rPr lang="zh-TW" altLang="en-US" dirty="0"/>
              <a:t>摘要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1B8499A-AFB0-445B-AC82-D20B0BEB3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03474"/>
            <a:ext cx="12082272" cy="406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675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60295B-54B9-4937-90E3-BAB9CE69E3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1059400"/>
            <a:ext cx="6245912" cy="2387600"/>
          </a:xfrm>
        </p:spPr>
        <p:txBody>
          <a:bodyPr rtlCol="0"/>
          <a:lstStyle/>
          <a:p>
            <a:pPr rtl="0"/>
            <a:r>
              <a:rPr lang="zh-TW" altLang="en-US" dirty="0"/>
              <a:t>理論模型與方法</a:t>
            </a:r>
          </a:p>
        </p:txBody>
      </p:sp>
    </p:spTree>
    <p:extLst>
      <p:ext uri="{BB962C8B-B14F-4D97-AF65-F5344CB8AC3E}">
        <p14:creationId xmlns:p14="http://schemas.microsoft.com/office/powerpoint/2010/main" val="2372444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43047E-FBFD-4F79-BCA5-10E69740F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41" y="258445"/>
            <a:ext cx="9779183" cy="1325563"/>
          </a:xfrm>
        </p:spPr>
        <p:txBody>
          <a:bodyPr rtlCol="0"/>
          <a:lstStyle/>
          <a:p>
            <a:pPr rtl="0"/>
            <a:r>
              <a:rPr lang="zh-TW" altLang="en-US" b="1" i="0" dirty="0">
                <a:effectLst/>
                <a:latin typeface="Google Sans Text"/>
              </a:rPr>
              <a:t>理論模型與方法架構</a:t>
            </a:r>
            <a:br>
              <a:rPr lang="en-US" altLang="zh-TW" b="1" i="0" dirty="0">
                <a:effectLst/>
                <a:latin typeface="Google Sans Text"/>
              </a:rPr>
            </a:br>
            <a:r>
              <a:rPr lang="zh-TW" altLang="en-US" sz="2000" b="0" i="0" dirty="0">
                <a:effectLst/>
                <a:latin typeface="Google Sans Text"/>
              </a:rPr>
              <a:t>本研究所提出的</a:t>
            </a:r>
            <a:r>
              <a:rPr lang="en-US" altLang="zh-TW" sz="2000" b="0" i="0" dirty="0">
                <a:effectLst/>
                <a:latin typeface="Google Sans Text"/>
              </a:rPr>
              <a:t>3DMAGNSSRTK</a:t>
            </a:r>
            <a:r>
              <a:rPr lang="zh-TW" altLang="en-US" sz="2000" b="0" i="0" dirty="0">
                <a:effectLst/>
                <a:latin typeface="Google Sans Text"/>
              </a:rPr>
              <a:t>演算法分為「離線處理」與「線上即時定位」兩個主要階段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3628F89-68B7-7683-E65F-0938CD566576}"/>
              </a:ext>
            </a:extLst>
          </p:cNvPr>
          <p:cNvSpPr txBox="1"/>
          <p:nvPr/>
        </p:nvSpPr>
        <p:spPr>
          <a:xfrm>
            <a:off x="950411" y="1724297"/>
            <a:ext cx="1071036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dirty="0">
                <a:latin typeface="標楷體" panose="03000509000000000000" pitchFamily="65" charset="-120"/>
              </a:rPr>
              <a:t>離線階段</a:t>
            </a:r>
            <a:r>
              <a:rPr lang="en-US" altLang="zh-TW" b="1" dirty="0">
                <a:latin typeface="標楷體" panose="03000509000000000000" pitchFamily="65" charset="-120"/>
              </a:rPr>
              <a:t>(</a:t>
            </a:r>
            <a:r>
              <a:rPr lang="en-US" altLang="zh-TW" b="1" dirty="0" err="1">
                <a:latin typeface="標楷體" panose="03000509000000000000" pitchFamily="65" charset="-120"/>
              </a:rPr>
              <a:t>Skymask</a:t>
            </a:r>
            <a:r>
              <a:rPr lang="zh-TW" altLang="en-US" b="1" dirty="0">
                <a:latin typeface="標楷體" panose="03000509000000000000" pitchFamily="65" charset="-120"/>
              </a:rPr>
              <a:t>生成</a:t>
            </a:r>
            <a:r>
              <a:rPr lang="en-US" altLang="zh-TW" b="1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：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TW" altLang="en-US" dirty="0">
                <a:latin typeface="標楷體" panose="03000509000000000000" pitchFamily="65" charset="-120"/>
              </a:rPr>
              <a:t>事先利用</a:t>
            </a:r>
            <a:r>
              <a:rPr lang="en-US" altLang="zh-TW" dirty="0">
                <a:latin typeface="標楷體" panose="03000509000000000000" pitchFamily="65" charset="-120"/>
              </a:rPr>
              <a:t>3D</a:t>
            </a:r>
            <a:r>
              <a:rPr lang="zh-TW" altLang="en-US" dirty="0">
                <a:latin typeface="標楷體" panose="03000509000000000000" pitchFamily="65" charset="-120"/>
              </a:rPr>
              <a:t>建築模型產生「</a:t>
            </a:r>
            <a:r>
              <a:rPr lang="en-US" altLang="zh-TW" dirty="0" err="1">
                <a:latin typeface="標楷體" panose="03000509000000000000" pitchFamily="65" charset="-120"/>
              </a:rPr>
              <a:t>Skymask</a:t>
            </a:r>
            <a:r>
              <a:rPr lang="zh-TW" altLang="en-US" dirty="0">
                <a:latin typeface="標楷體" panose="03000509000000000000" pitchFamily="65" charset="-120"/>
              </a:rPr>
              <a:t>」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</a:rPr>
              <a:t>天際線遮罩</a:t>
            </a:r>
            <a:r>
              <a:rPr lang="en-US" altLang="zh-TW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，這是一種呈現建築物邊界最高仰角的星空圖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TW" altLang="en-US" dirty="0">
                <a:latin typeface="標楷體" panose="03000509000000000000" pitchFamily="65" charset="-120"/>
              </a:rPr>
              <a:t>透過預先計算並儲存在伺服器中，</a:t>
            </a:r>
            <a:r>
              <a:rPr lang="en-US" altLang="zh-TW" dirty="0" err="1">
                <a:latin typeface="標楷體" panose="03000509000000000000" pitchFamily="65" charset="-120"/>
              </a:rPr>
              <a:t>Skymask</a:t>
            </a:r>
            <a:r>
              <a:rPr lang="zh-TW" altLang="en-US" dirty="0">
                <a:latin typeface="標楷體" panose="03000509000000000000" pitchFamily="65" charset="-120"/>
              </a:rPr>
              <a:t>可在定位時用來快速判斷衛星訊號是屬於視距</a:t>
            </a:r>
            <a:r>
              <a:rPr lang="en-US" altLang="zh-TW" dirty="0">
                <a:latin typeface="標楷體" panose="03000509000000000000" pitchFamily="65" charset="-120"/>
              </a:rPr>
              <a:t>(LOS)</a:t>
            </a:r>
            <a:r>
              <a:rPr lang="zh-TW" altLang="en-US" dirty="0">
                <a:latin typeface="標楷體" panose="03000509000000000000" pitchFamily="65" charset="-120"/>
              </a:rPr>
              <a:t>還是非視距</a:t>
            </a:r>
            <a:r>
              <a:rPr lang="en-US" altLang="zh-TW" dirty="0">
                <a:latin typeface="標楷體" panose="03000509000000000000" pitchFamily="65" charset="-120"/>
              </a:rPr>
              <a:t>(NLOS)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endParaRPr lang="en-US" altLang="zh-TW" dirty="0">
              <a:latin typeface="Google Sans Text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dirty="0">
                <a:latin typeface="標楷體" panose="03000509000000000000" pitchFamily="65" charset="-120"/>
              </a:rPr>
              <a:t>線上階段</a:t>
            </a:r>
            <a:r>
              <a:rPr lang="en-US" altLang="zh-TW" b="1" dirty="0">
                <a:latin typeface="標楷體" panose="03000509000000000000" pitchFamily="65" charset="-120"/>
              </a:rPr>
              <a:t>(</a:t>
            </a:r>
            <a:r>
              <a:rPr lang="zh-TW" altLang="en-US" b="1" dirty="0">
                <a:latin typeface="標楷體" panose="03000509000000000000" pitchFamily="65" charset="-120"/>
              </a:rPr>
              <a:t>即時定位與位置假設評分</a:t>
            </a:r>
            <a:r>
              <a:rPr lang="en-US" altLang="zh-TW" b="1" dirty="0">
                <a:latin typeface="標楷體" panose="03000509000000000000" pitchFamily="65" charset="-120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TW" altLang="en-US" b="1" dirty="0">
                <a:latin typeface="標楷體" panose="03000509000000000000" pitchFamily="65" charset="-120"/>
              </a:rPr>
              <a:t>步驟一</a:t>
            </a:r>
            <a:r>
              <a:rPr lang="en-US" altLang="zh-TW" b="1" dirty="0">
                <a:latin typeface="標楷體" panose="03000509000000000000" pitchFamily="65" charset="-120"/>
              </a:rPr>
              <a:t>(</a:t>
            </a:r>
            <a:r>
              <a:rPr lang="zh-TW" altLang="en-US" b="1" dirty="0">
                <a:latin typeface="標楷體" panose="03000509000000000000" pitchFamily="65" charset="-120"/>
              </a:rPr>
              <a:t>常規</a:t>
            </a:r>
            <a:r>
              <a:rPr lang="en-US" altLang="zh-TW" b="1" dirty="0">
                <a:latin typeface="標楷體" panose="03000509000000000000" pitchFamily="65" charset="-120"/>
              </a:rPr>
              <a:t>RTK</a:t>
            </a:r>
            <a:r>
              <a:rPr lang="zh-TW" altLang="en-US" b="1" dirty="0">
                <a:latin typeface="標楷體" panose="03000509000000000000" pitchFamily="65" charset="-120"/>
              </a:rPr>
              <a:t>初步估算</a:t>
            </a:r>
            <a:r>
              <a:rPr lang="en-US" altLang="zh-TW" b="1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：先利用傳統的雙差分</a:t>
            </a:r>
            <a:r>
              <a:rPr lang="en-US" altLang="zh-TW" dirty="0">
                <a:latin typeface="標楷體" panose="03000509000000000000" pitchFamily="65" charset="-120"/>
              </a:rPr>
              <a:t>(Double-difference)</a:t>
            </a:r>
            <a:r>
              <a:rPr lang="zh-TW" altLang="en-US" dirty="0">
                <a:latin typeface="標楷體" panose="03000509000000000000" pitchFamily="65" charset="-120"/>
              </a:rPr>
              <a:t>量測與最小平方法，計算出接收器的初始浮點解與模糊度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TW" altLang="en-US" b="1" dirty="0">
                <a:latin typeface="標楷體" panose="03000509000000000000" pitchFamily="65" charset="-120"/>
              </a:rPr>
              <a:t>步驟二</a:t>
            </a:r>
            <a:r>
              <a:rPr lang="en-US" altLang="zh-TW" b="1" dirty="0">
                <a:latin typeface="標楷體" panose="03000509000000000000" pitchFamily="65" charset="-120"/>
              </a:rPr>
              <a:t>(</a:t>
            </a:r>
            <a:r>
              <a:rPr lang="zh-TW" altLang="en-US" b="1" dirty="0">
                <a:latin typeface="標楷體" panose="03000509000000000000" pitchFamily="65" charset="-120"/>
              </a:rPr>
              <a:t>候選點分佈與評分</a:t>
            </a:r>
            <a:r>
              <a:rPr lang="en-US" altLang="zh-TW" b="1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：在初始位置周圍以</a:t>
            </a:r>
            <a:r>
              <a:rPr lang="en-US" altLang="zh-TW" dirty="0">
                <a:latin typeface="標楷體" panose="03000509000000000000" pitchFamily="65" charset="-120"/>
              </a:rPr>
              <a:t>5</a:t>
            </a:r>
            <a:r>
              <a:rPr lang="zh-TW" altLang="en-US" dirty="0">
                <a:latin typeface="標楷體" panose="03000509000000000000" pitchFamily="65" charset="-120"/>
              </a:rPr>
              <a:t>公尺半徑、</a:t>
            </a:r>
            <a:r>
              <a:rPr lang="en-US" altLang="zh-TW" dirty="0">
                <a:latin typeface="標楷體" panose="03000509000000000000" pitchFamily="65" charset="-120"/>
              </a:rPr>
              <a:t>50</a:t>
            </a:r>
            <a:r>
              <a:rPr lang="zh-TW" altLang="en-US" dirty="0">
                <a:latin typeface="標楷體" panose="03000509000000000000" pitchFamily="65" charset="-120"/>
              </a:rPr>
              <a:t>公分解析度分佈多個「位置假設候選點」在每個候選點上，利用</a:t>
            </a:r>
            <a:r>
              <a:rPr lang="en-US" altLang="zh-TW" dirty="0" err="1">
                <a:latin typeface="標楷體" panose="03000509000000000000" pitchFamily="65" charset="-120"/>
              </a:rPr>
              <a:t>Skymask</a:t>
            </a:r>
            <a:r>
              <a:rPr lang="zh-TW" altLang="en-US" dirty="0">
                <a:latin typeface="標楷體" panose="03000509000000000000" pitchFamily="65" charset="-120"/>
              </a:rPr>
              <a:t>排除</a:t>
            </a:r>
            <a:r>
              <a:rPr lang="en-US" altLang="zh-TW" dirty="0">
                <a:latin typeface="標楷體" panose="03000509000000000000" pitchFamily="65" charset="-120"/>
              </a:rPr>
              <a:t>NLOS</a:t>
            </a:r>
            <a:r>
              <a:rPr lang="zh-TW" altLang="en-US" dirty="0">
                <a:latin typeface="標楷體" panose="03000509000000000000" pitchFamily="65" charset="-120"/>
              </a:rPr>
              <a:t>衛星，並採用</a:t>
            </a:r>
            <a:r>
              <a:rPr lang="zh-TW" altLang="en-US" b="1" dirty="0">
                <a:latin typeface="標楷體" panose="03000509000000000000" pitchFamily="65" charset="-120"/>
              </a:rPr>
              <a:t>最佳整數等變量</a:t>
            </a:r>
            <a:r>
              <a:rPr lang="en-US" altLang="zh-TW" b="1" dirty="0">
                <a:latin typeface="標楷體" panose="03000509000000000000" pitchFamily="65" charset="-120"/>
              </a:rPr>
              <a:t>(BIE)</a:t>
            </a:r>
            <a:r>
              <a:rPr lang="zh-TW" altLang="en-US" b="1" dirty="0">
                <a:latin typeface="標楷體" panose="03000509000000000000" pitchFamily="65" charset="-120"/>
              </a:rPr>
              <a:t>估計器</a:t>
            </a:r>
            <a:r>
              <a:rPr lang="zh-TW" altLang="en-US" dirty="0">
                <a:latin typeface="標楷體" panose="03000509000000000000" pitchFamily="65" charset="-120"/>
              </a:rPr>
              <a:t>來進行模糊度解算</a:t>
            </a:r>
            <a:r>
              <a:rPr lang="en-US" altLang="zh-TW" dirty="0">
                <a:latin typeface="標楷體" panose="03000509000000000000" pitchFamily="65" charset="-120"/>
              </a:rPr>
              <a:t>(AR)</a:t>
            </a:r>
            <a:r>
              <a:rPr lang="zh-TW" altLang="en-US" dirty="0">
                <a:latin typeface="標楷體" panose="03000509000000000000" pitchFamily="65" charset="-120"/>
              </a:rPr>
              <a:t>隨後，比對解算後的模型載波相位與實際測量值，利用均方誤差</a:t>
            </a:r>
            <a:r>
              <a:rPr lang="en-US" altLang="zh-TW" dirty="0">
                <a:latin typeface="標楷體" panose="03000509000000000000" pitchFamily="65" charset="-120"/>
              </a:rPr>
              <a:t>(MSE)</a:t>
            </a:r>
            <a:r>
              <a:rPr lang="zh-TW" altLang="en-US" dirty="0">
                <a:latin typeface="標楷體" panose="03000509000000000000" pitchFamily="65" charset="-120"/>
              </a:rPr>
              <a:t>為各候選點進行評分，誤差越小得分越高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TW" altLang="en-US" b="1" dirty="0">
                <a:latin typeface="標楷體" panose="03000509000000000000" pitchFamily="65" charset="-120"/>
              </a:rPr>
              <a:t>步驟三</a:t>
            </a:r>
            <a:r>
              <a:rPr lang="en-US" altLang="zh-TW" b="1" dirty="0">
                <a:latin typeface="標楷體" panose="03000509000000000000" pitchFamily="65" charset="-120"/>
              </a:rPr>
              <a:t>(</a:t>
            </a:r>
            <a:r>
              <a:rPr lang="zh-TW" altLang="en-US" b="1" dirty="0">
                <a:latin typeface="標楷體" panose="03000509000000000000" pitchFamily="65" charset="-120"/>
              </a:rPr>
              <a:t>最終定位求解</a:t>
            </a:r>
            <a:r>
              <a:rPr lang="en-US" altLang="zh-TW" b="1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：根據所有候選點的評分進行加權平均，求得一個「準確的浮點位置」接著，以此位置的能見度再次執行衛星篩選與</a:t>
            </a:r>
            <a:r>
              <a:rPr lang="en-US" altLang="zh-TW" dirty="0">
                <a:latin typeface="標楷體" panose="03000509000000000000" pitchFamily="65" charset="-120"/>
              </a:rPr>
              <a:t>BIE</a:t>
            </a:r>
            <a:r>
              <a:rPr lang="zh-TW" altLang="en-US" dirty="0">
                <a:latin typeface="標楷體" panose="03000509000000000000" pitchFamily="65" charset="-120"/>
              </a:rPr>
              <a:t>模糊度解算，輸出最終的高精度</a:t>
            </a:r>
            <a:r>
              <a:rPr lang="en-US" altLang="zh-TW" dirty="0">
                <a:latin typeface="標楷體" panose="03000509000000000000" pitchFamily="65" charset="-120"/>
              </a:rPr>
              <a:t>3DMAGNSSRTK</a:t>
            </a:r>
            <a:r>
              <a:rPr lang="zh-TW" altLang="en-US" dirty="0">
                <a:latin typeface="標楷體" panose="03000509000000000000" pitchFamily="65" charset="-120"/>
              </a:rPr>
              <a:t>定位結果</a:t>
            </a:r>
            <a:endParaRPr lang="en-US" altLang="zh-TW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4101081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315F-71D1-DD39-5B9D-C6D88F36F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FE70FA-970E-1F66-A6F3-DFD8FF0CF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9634" y="1059400"/>
            <a:ext cx="7315200" cy="2387600"/>
          </a:xfrm>
        </p:spPr>
        <p:txBody>
          <a:bodyPr rtlCol="0"/>
          <a:lstStyle/>
          <a:p>
            <a:r>
              <a:rPr lang="zh-TW" altLang="en-US" dirty="0"/>
              <a:t>結果分析</a:t>
            </a:r>
          </a:p>
        </p:txBody>
      </p:sp>
    </p:spTree>
    <p:extLst>
      <p:ext uri="{BB962C8B-B14F-4D97-AF65-F5344CB8AC3E}">
        <p14:creationId xmlns:p14="http://schemas.microsoft.com/office/powerpoint/2010/main" val="3956053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7A2-26D9-EFA0-E0A3-B89DAA6F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D26488-2650-72DA-9627-4E1720D51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zh-TW" altLang="en-US" dirty="0"/>
              <a:t>結果分析</a:t>
            </a:r>
            <a:r>
              <a:rPr lang="zh-TW" altLang="en-US" sz="1800" dirty="0"/>
              <a:t>研究團隊在香港的多處市區與郊區峽谷進行靜態實驗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027B3B7-850C-B1F6-CE24-89C313993F78}"/>
              </a:ext>
            </a:extLst>
          </p:cNvPr>
          <p:cNvSpPr txBox="1"/>
          <p:nvPr/>
        </p:nvSpPr>
        <p:spPr>
          <a:xfrm>
            <a:off x="1357312" y="1885950"/>
            <a:ext cx="91297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dirty="0">
                <a:latin typeface="標楷體" panose="03000509000000000000" pitchFamily="65" charset="-120"/>
              </a:rPr>
              <a:t>關鍵指標分析 </a:t>
            </a:r>
            <a:r>
              <a:rPr lang="en-US" altLang="zh-TW" b="1" dirty="0">
                <a:latin typeface="標楷體" panose="03000509000000000000" pitchFamily="65" charset="-120"/>
              </a:rPr>
              <a:t>(ADOP </a:t>
            </a:r>
            <a:r>
              <a:rPr lang="zh-TW" altLang="en-US" b="1" dirty="0">
                <a:latin typeface="標楷體" panose="03000509000000000000" pitchFamily="65" charset="-120"/>
              </a:rPr>
              <a:t>與 </a:t>
            </a:r>
            <a:r>
              <a:rPr lang="en-US" altLang="zh-TW" b="1" dirty="0">
                <a:latin typeface="標楷體" panose="03000509000000000000" pitchFamily="65" charset="-120"/>
              </a:rPr>
              <a:t>PDOP)</a:t>
            </a:r>
            <a:r>
              <a:rPr lang="zh-TW" altLang="en-US" dirty="0">
                <a:latin typeface="標楷體" panose="03000509000000000000" pitchFamily="65" charset="-120"/>
              </a:rPr>
              <a:t>：結果顯示，在導入 </a:t>
            </a:r>
            <a:r>
              <a:rPr lang="en-US" altLang="zh-TW" dirty="0">
                <a:latin typeface="標楷體" panose="03000509000000000000" pitchFamily="65" charset="-120"/>
              </a:rPr>
              <a:t>3DMA </a:t>
            </a:r>
            <a:r>
              <a:rPr lang="zh-TW" altLang="en-US" dirty="0">
                <a:latin typeface="標楷體" panose="03000509000000000000" pitchFamily="65" charset="-120"/>
              </a:rPr>
              <a:t>排除不健康的 </a:t>
            </a:r>
            <a:r>
              <a:rPr lang="en-US" altLang="zh-TW" dirty="0">
                <a:latin typeface="標楷體" panose="03000509000000000000" pitchFamily="65" charset="-120"/>
              </a:rPr>
              <a:t>NLOS </a:t>
            </a:r>
            <a:r>
              <a:rPr lang="zh-TW" altLang="en-US" dirty="0">
                <a:latin typeface="標楷體" panose="03000509000000000000" pitchFamily="65" charset="-120"/>
              </a:rPr>
              <a:t>衛星後，儘管位置精度衰減因子</a:t>
            </a:r>
            <a:r>
              <a:rPr lang="en-US" altLang="zh-TW" dirty="0">
                <a:latin typeface="標楷體" panose="03000509000000000000" pitchFamily="65" charset="-120"/>
              </a:rPr>
              <a:t>(PDOP)</a:t>
            </a:r>
            <a:r>
              <a:rPr lang="zh-TW" altLang="en-US" dirty="0">
                <a:latin typeface="標楷體" panose="03000509000000000000" pitchFamily="65" charset="-120"/>
              </a:rPr>
              <a:t>會略微增加，但</a:t>
            </a:r>
            <a:r>
              <a:rPr lang="zh-TW" altLang="en-US" b="1" dirty="0">
                <a:latin typeface="標楷體" panose="03000509000000000000" pitchFamily="65" charset="-120"/>
              </a:rPr>
              <a:t>模糊度精度衰減因子</a:t>
            </a:r>
            <a:r>
              <a:rPr lang="en-US" altLang="zh-TW" b="1" dirty="0">
                <a:latin typeface="標楷體" panose="03000509000000000000" pitchFamily="65" charset="-120"/>
              </a:rPr>
              <a:t>(ADOP)</a:t>
            </a:r>
            <a:r>
              <a:rPr lang="zh-TW" altLang="en-US" b="1" dirty="0">
                <a:latin typeface="標楷體" panose="03000509000000000000" pitchFamily="65" charset="-120"/>
              </a:rPr>
              <a:t>卻顯著下降</a:t>
            </a:r>
            <a:r>
              <a:rPr lang="en-US" altLang="zh-TW" b="1" dirty="0">
                <a:latin typeface="標楷體" panose="03000509000000000000" pitchFamily="65" charset="-120"/>
              </a:rPr>
              <a:t>(</a:t>
            </a:r>
            <a:r>
              <a:rPr lang="zh-TW" altLang="en-US" b="1" dirty="0">
                <a:latin typeface="標楷體" panose="03000509000000000000" pitchFamily="65" charset="-120"/>
              </a:rPr>
              <a:t>從大於 </a:t>
            </a:r>
            <a:r>
              <a:rPr lang="en-US" altLang="zh-TW" b="1" dirty="0">
                <a:latin typeface="標楷體" panose="03000509000000000000" pitchFamily="65" charset="-120"/>
              </a:rPr>
              <a:t>1 </a:t>
            </a:r>
            <a:r>
              <a:rPr lang="zh-TW" altLang="en-US" b="1" dirty="0">
                <a:latin typeface="標楷體" panose="03000509000000000000" pitchFamily="65" charset="-120"/>
              </a:rPr>
              <a:t>週期降至 </a:t>
            </a:r>
            <a:r>
              <a:rPr lang="en-US" altLang="zh-TW" b="1" dirty="0">
                <a:latin typeface="標楷體" panose="03000509000000000000" pitchFamily="65" charset="-120"/>
              </a:rPr>
              <a:t>0.2 </a:t>
            </a:r>
            <a:r>
              <a:rPr lang="zh-TW" altLang="en-US" b="1" dirty="0">
                <a:latin typeface="標楷體" panose="03000509000000000000" pitchFamily="65" charset="-120"/>
              </a:rPr>
              <a:t>週期以內</a:t>
            </a:r>
            <a:r>
              <a:rPr lang="zh-TW" altLang="en-US" dirty="0">
                <a:latin typeface="標楷體" panose="03000509000000000000" pitchFamily="65" charset="-120"/>
              </a:rPr>
              <a:t>較低的 </a:t>
            </a:r>
            <a:r>
              <a:rPr lang="en-US" altLang="zh-TW" dirty="0">
                <a:latin typeface="標楷體" panose="03000509000000000000" pitchFamily="65" charset="-120"/>
              </a:rPr>
              <a:t>ADOP </a:t>
            </a:r>
            <a:r>
              <a:rPr lang="zh-TW" altLang="en-US" dirty="0">
                <a:latin typeface="標楷體" panose="03000509000000000000" pitchFamily="65" charset="-120"/>
              </a:rPr>
              <a:t>代表模糊度估計的精確性大幅提高，有助於解算出正確的 </a:t>
            </a:r>
            <a:r>
              <a:rPr lang="en-US" altLang="zh-TW" dirty="0">
                <a:latin typeface="標楷體" panose="03000509000000000000" pitchFamily="65" charset="-120"/>
              </a:rPr>
              <a:t>RTK </a:t>
            </a:r>
            <a:r>
              <a:rPr lang="zh-TW" altLang="en-US" dirty="0">
                <a:latin typeface="標楷體" panose="03000509000000000000" pitchFamily="65" charset="-120"/>
              </a:rPr>
              <a:t>定位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dirty="0">
              <a:latin typeface="Google Sans Text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dirty="0">
                <a:latin typeface="標楷體" panose="03000509000000000000" pitchFamily="65" charset="-120"/>
              </a:rPr>
              <a:t>定位誤差表現</a:t>
            </a:r>
            <a:r>
              <a:rPr lang="zh-TW" altLang="en-US" dirty="0">
                <a:latin typeface="標楷體" panose="03000509000000000000" pitchFamily="65" charset="-120"/>
              </a:rPr>
              <a:t>：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TW" altLang="en-US" dirty="0">
                <a:latin typeface="標楷體" panose="03000509000000000000" pitchFamily="65" charset="-120"/>
              </a:rPr>
              <a:t>在使用測地級接收儀時，</a:t>
            </a:r>
            <a:r>
              <a:rPr lang="en-US" altLang="zh-TW" b="1" dirty="0">
                <a:latin typeface="標楷體" panose="03000509000000000000" pitchFamily="65" charset="-120"/>
              </a:rPr>
              <a:t>3DMA GNSS RTK </a:t>
            </a:r>
            <a:r>
              <a:rPr lang="zh-TW" altLang="en-US" b="1" dirty="0">
                <a:latin typeface="標楷體" panose="03000509000000000000" pitchFamily="65" charset="-120"/>
              </a:rPr>
              <a:t>能夠將都市峽谷環境中的平均定位誤差控制在 </a:t>
            </a:r>
            <a:r>
              <a:rPr lang="en-US" altLang="zh-TW" b="1" dirty="0">
                <a:latin typeface="標楷體" panose="03000509000000000000" pitchFamily="65" charset="-120"/>
              </a:rPr>
              <a:t>10 </a:t>
            </a:r>
            <a:r>
              <a:rPr lang="zh-TW" altLang="en-US" b="1" dirty="0">
                <a:latin typeface="標楷體" panose="03000509000000000000" pitchFamily="65" charset="-120"/>
              </a:rPr>
              <a:t>公分以內</a:t>
            </a:r>
            <a:r>
              <a:rPr lang="zh-TW" altLang="en-US" dirty="0">
                <a:latin typeface="標楷體" panose="03000509000000000000" pitchFamily="65" charset="-120"/>
              </a:rPr>
              <a:t>，表現幾乎等同於擁有完美已知位置的理論最佳解</a:t>
            </a:r>
            <a:r>
              <a:rPr lang="en-US" altLang="zh-TW" dirty="0">
                <a:latin typeface="標楷體" panose="03000509000000000000" pitchFamily="65" charset="-120"/>
              </a:rPr>
              <a:t>(3DMA BIE@GT)</a:t>
            </a: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TW" altLang="en-US" dirty="0">
                <a:latin typeface="標楷體" panose="03000509000000000000" pitchFamily="65" charset="-120"/>
              </a:rPr>
              <a:t>在建築分佈不均的場景中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</a:rPr>
              <a:t>實驗 </a:t>
            </a:r>
            <a:r>
              <a:rPr lang="en-US" altLang="zh-TW" dirty="0">
                <a:latin typeface="標楷體" panose="03000509000000000000" pitchFamily="65" charset="-120"/>
              </a:rPr>
              <a:t>4 </a:t>
            </a:r>
            <a:r>
              <a:rPr lang="zh-TW" altLang="en-US" dirty="0">
                <a:latin typeface="標楷體" panose="03000509000000000000" pitchFamily="65" charset="-120"/>
              </a:rPr>
              <a:t>與實驗 </a:t>
            </a:r>
            <a:r>
              <a:rPr lang="en-US" altLang="zh-TW" dirty="0">
                <a:latin typeface="標楷體" panose="03000509000000000000" pitchFamily="65" charset="-120"/>
              </a:rPr>
              <a:t>5)</a:t>
            </a:r>
            <a:r>
              <a:rPr lang="zh-TW" altLang="en-US" dirty="0">
                <a:latin typeface="標楷體" panose="03000509000000000000" pitchFamily="65" charset="-120"/>
              </a:rPr>
              <a:t>，傳統提高仰角遮罩</a:t>
            </a:r>
            <a:r>
              <a:rPr lang="en-US" altLang="zh-TW" dirty="0">
                <a:latin typeface="標楷體" panose="03000509000000000000" pitchFamily="65" charset="-120"/>
              </a:rPr>
              <a:t>(BIE@EL35)</a:t>
            </a:r>
            <a:r>
              <a:rPr lang="zh-TW" altLang="en-US" dirty="0">
                <a:latin typeface="標楷體" panose="03000509000000000000" pitchFamily="65" charset="-120"/>
              </a:rPr>
              <a:t>的方法改善有限，而 </a:t>
            </a:r>
            <a:r>
              <a:rPr lang="en-US" altLang="zh-TW" dirty="0">
                <a:latin typeface="標楷體" panose="03000509000000000000" pitchFamily="65" charset="-120"/>
              </a:rPr>
              <a:t>3DMA </a:t>
            </a:r>
            <a:r>
              <a:rPr lang="zh-TW" altLang="en-US" dirty="0">
                <a:latin typeface="標楷體" panose="03000509000000000000" pitchFamily="65" charset="-120"/>
              </a:rPr>
              <a:t>方法則將均方根</a:t>
            </a:r>
            <a:r>
              <a:rPr lang="en-US" altLang="zh-TW" dirty="0">
                <a:latin typeface="標楷體" panose="03000509000000000000" pitchFamily="65" charset="-120"/>
              </a:rPr>
              <a:t>(RMS)</a:t>
            </a:r>
            <a:r>
              <a:rPr lang="zh-TW" altLang="en-US" dirty="0">
                <a:latin typeface="標楷體" panose="03000509000000000000" pitchFamily="65" charset="-120"/>
              </a:rPr>
              <a:t>誤差大幅降低數十公分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</a:rPr>
              <a:t>如實驗 </a:t>
            </a:r>
            <a:r>
              <a:rPr lang="en-US" altLang="zh-TW" dirty="0">
                <a:latin typeface="標楷體" panose="03000509000000000000" pitchFamily="65" charset="-120"/>
              </a:rPr>
              <a:t>5 </a:t>
            </a:r>
            <a:r>
              <a:rPr lang="zh-TW" altLang="en-US" dirty="0">
                <a:latin typeface="標楷體" panose="03000509000000000000" pitchFamily="65" charset="-120"/>
              </a:rPr>
              <a:t>的誤差從約 </a:t>
            </a:r>
            <a:r>
              <a:rPr lang="en-US" altLang="zh-TW" dirty="0">
                <a:latin typeface="標楷體" panose="03000509000000000000" pitchFamily="65" charset="-120"/>
              </a:rPr>
              <a:t>60 </a:t>
            </a:r>
            <a:r>
              <a:rPr lang="zh-TW" altLang="en-US" dirty="0">
                <a:latin typeface="標楷體" panose="03000509000000000000" pitchFamily="65" charset="-120"/>
              </a:rPr>
              <a:t>公分降至 </a:t>
            </a:r>
            <a:r>
              <a:rPr lang="en-US" altLang="zh-TW" dirty="0">
                <a:latin typeface="標楷體" panose="03000509000000000000" pitchFamily="65" charset="-120"/>
              </a:rPr>
              <a:t>2 </a:t>
            </a:r>
            <a:r>
              <a:rPr lang="zh-TW" altLang="en-US" dirty="0">
                <a:latin typeface="標楷體" panose="03000509000000000000" pitchFamily="65" charset="-120"/>
              </a:rPr>
              <a:t>公分以內</a:t>
            </a:r>
            <a:r>
              <a:rPr lang="en-US" altLang="zh-TW" dirty="0">
                <a:latin typeface="標楷體" panose="03000509000000000000" pitchFamily="65" charset="-120"/>
              </a:rPr>
              <a:t>)</a:t>
            </a:r>
            <a:endParaRPr lang="en-US" altLang="zh-TW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1211603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E2BCF-BE25-65AC-B974-6EDCE9BE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C5FC2-06F9-A4DD-1244-45A16584A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zh-TW" altLang="en-US" dirty="0"/>
              <a:t>結果分析</a:t>
            </a:r>
            <a:r>
              <a:rPr lang="zh-TW" altLang="en-US" sz="1800" dirty="0"/>
              <a:t>研究團隊在香港的多處市區與郊區峽谷進行靜態實驗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8C7E03E-9C00-055A-8EC4-19478D6AF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07" y="2225372"/>
            <a:ext cx="4820323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CA01CB-3A67-74A0-1123-F98C9E1A94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1" b="2413"/>
          <a:stretch>
            <a:fillRect/>
          </a:stretch>
        </p:blipFill>
        <p:spPr>
          <a:xfrm>
            <a:off x="6096000" y="1857127"/>
            <a:ext cx="4643776" cy="347687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F64E0CE-ADD4-B1F6-2A34-71520A336E94}"/>
              </a:ext>
            </a:extLst>
          </p:cNvPr>
          <p:cNvSpPr txBox="1"/>
          <p:nvPr/>
        </p:nvSpPr>
        <p:spPr>
          <a:xfrm>
            <a:off x="1713297" y="5484565"/>
            <a:ext cx="92333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</a:rPr>
              <a:t>這張圖展示了 </a:t>
            </a:r>
            <a:r>
              <a:rPr lang="en-US" altLang="zh-TW" b="1" dirty="0">
                <a:latin typeface="標楷體" panose="03000509000000000000" pitchFamily="65" charset="-120"/>
              </a:rPr>
              <a:t>3D </a:t>
            </a:r>
            <a:r>
              <a:rPr lang="zh-TW" altLang="en-US" b="1" dirty="0">
                <a:latin typeface="標楷體" panose="03000509000000000000" pitchFamily="65" charset="-120"/>
              </a:rPr>
              <a:t>城市地圖輔助（</a:t>
            </a:r>
            <a:r>
              <a:rPr lang="en-US" altLang="zh-TW" b="1" dirty="0">
                <a:latin typeface="標楷體" panose="03000509000000000000" pitchFamily="65" charset="-120"/>
              </a:rPr>
              <a:t>3DMA</a:t>
            </a:r>
            <a:r>
              <a:rPr lang="zh-TW" altLang="en-US" b="1" dirty="0">
                <a:latin typeface="標楷體" panose="03000509000000000000" pitchFamily="65" charset="-120"/>
              </a:rPr>
              <a:t>）技術</a:t>
            </a:r>
            <a:r>
              <a:rPr lang="zh-TW" altLang="en-US" dirty="0">
                <a:latin typeface="標楷體" panose="03000509000000000000" pitchFamily="65" charset="-120"/>
              </a:rPr>
              <a:t> 如何透過識別建築物遮蔽區域（灰色部分），精確剔除或修正錯誤的衛星訊號（紅點），從而在複雜都市環境中大幅降低定位誤差，將近 </a:t>
            </a:r>
            <a:r>
              <a:rPr lang="en-US" altLang="zh-TW" b="1" dirty="0">
                <a:latin typeface="標楷體" panose="03000509000000000000" pitchFamily="65" charset="-120"/>
              </a:rPr>
              <a:t>80%</a:t>
            </a:r>
            <a:r>
              <a:rPr lang="zh-TW" altLang="en-US" dirty="0">
                <a:latin typeface="標楷體" panose="03000509000000000000" pitchFamily="65" charset="-120"/>
              </a:rPr>
              <a:t> 的定位點精確度提升達 </a:t>
            </a:r>
            <a:r>
              <a:rPr lang="en-US" altLang="zh-TW" b="1" dirty="0">
                <a:latin typeface="標楷體" panose="03000509000000000000" pitchFamily="65" charset="-120"/>
              </a:rPr>
              <a:t>2 </a:t>
            </a:r>
            <a:r>
              <a:rPr lang="zh-TW" altLang="en-US" b="1" dirty="0">
                <a:latin typeface="標楷體" panose="03000509000000000000" pitchFamily="65" charset="-120"/>
              </a:rPr>
              <a:t>公尺</a:t>
            </a:r>
            <a:r>
              <a:rPr lang="zh-TW" altLang="en-US" dirty="0">
                <a:latin typeface="標楷體" panose="03000509000000000000" pitchFamily="65" charset="-120"/>
              </a:rPr>
              <a:t> 以上</a:t>
            </a:r>
          </a:p>
        </p:txBody>
      </p:sp>
    </p:spTree>
    <p:extLst>
      <p:ext uri="{BB962C8B-B14F-4D97-AF65-F5344CB8AC3E}">
        <p14:creationId xmlns:p14="http://schemas.microsoft.com/office/powerpoint/2010/main" val="944064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37459-543C-B136-B956-1AB2BB358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B69C6C-B567-E727-02BD-552FCF2F3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9634" y="1059400"/>
            <a:ext cx="7315200" cy="2387600"/>
          </a:xfrm>
        </p:spPr>
        <p:txBody>
          <a:bodyPr rtlCol="0"/>
          <a:lstStyle/>
          <a:p>
            <a:r>
              <a:rPr lang="zh-TW" altLang="en-US" dirty="0"/>
              <a:t>限制與未來展望</a:t>
            </a:r>
            <a:r>
              <a:rPr lang="zh-TW" altLang="en-US" b="0" dirty="0"/>
              <a:t>：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66272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F79F-8EEC-5B2B-E80E-01E2D53ED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876E64-E627-B70F-AC4B-6F4B897F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zh-TW" altLang="en-US" dirty="0"/>
              <a:t>限制與未來展望</a:t>
            </a:r>
            <a:r>
              <a:rPr lang="zh-TW" altLang="en-US" b="0" dirty="0"/>
              <a:t>：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622F54B-14EB-FE7B-C5A1-3187CE4ADB2A}"/>
              </a:ext>
            </a:extLst>
          </p:cNvPr>
          <p:cNvSpPr txBox="1"/>
          <p:nvPr/>
        </p:nvSpPr>
        <p:spPr>
          <a:xfrm>
            <a:off x="1357312" y="2199459"/>
            <a:ext cx="9129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zh-TW" altLang="en-US" b="1" dirty="0">
                <a:latin typeface="標楷體" panose="03000509000000000000" pitchFamily="65" charset="-120"/>
              </a:rPr>
              <a:t>運算負載問題</a:t>
            </a:r>
            <a:r>
              <a:rPr lang="zh-TW" altLang="en-US" dirty="0">
                <a:latin typeface="標楷體" panose="03000509000000000000" pitchFamily="65" charset="-120"/>
              </a:rPr>
              <a:t>：由於需要在大量候選點上重複解算，</a:t>
            </a:r>
            <a:r>
              <a:rPr lang="en-US" altLang="zh-TW" dirty="0">
                <a:latin typeface="標楷體" panose="03000509000000000000" pitchFamily="65" charset="-120"/>
              </a:rPr>
              <a:t>3DMA GNSS RTK </a:t>
            </a:r>
            <a:r>
              <a:rPr lang="zh-TW" altLang="en-US" dirty="0">
                <a:latin typeface="標楷體" panose="03000509000000000000" pitchFamily="65" charset="-120"/>
              </a:rPr>
              <a:t>的單次運算時間長達約 </a:t>
            </a:r>
            <a:r>
              <a:rPr lang="en-US" altLang="zh-TW" dirty="0">
                <a:latin typeface="標楷體" panose="03000509000000000000" pitchFamily="65" charset="-120"/>
              </a:rPr>
              <a:t>22 </a:t>
            </a:r>
            <a:r>
              <a:rPr lang="zh-TW" altLang="en-US" dirty="0">
                <a:latin typeface="標楷體" panose="03000509000000000000" pitchFamily="65" charset="-120"/>
              </a:rPr>
              <a:t>秒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</a:rPr>
              <a:t>傳統方法僅需 </a:t>
            </a:r>
            <a:r>
              <a:rPr lang="en-US" altLang="zh-TW" dirty="0">
                <a:latin typeface="標楷體" panose="03000509000000000000" pitchFamily="65" charset="-120"/>
              </a:rPr>
              <a:t>0.1 </a:t>
            </a:r>
            <a:r>
              <a:rPr lang="zh-TW" altLang="en-US" dirty="0">
                <a:latin typeface="標楷體" panose="03000509000000000000" pitchFamily="65" charset="-120"/>
              </a:rPr>
              <a:t>秒</a:t>
            </a:r>
            <a:r>
              <a:rPr lang="en-US" altLang="zh-TW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，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</a:rPr>
              <a:t>目前難以應用於即時運算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226636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AF65A7-995A-9F45-891C-82D9B9D40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3338" y="1791018"/>
            <a:ext cx="7865326" cy="2810460"/>
          </a:xfrm>
        </p:spPr>
        <p:txBody>
          <a:bodyPr rtlCol="0">
            <a:normAutofit/>
          </a:bodyPr>
          <a:lstStyle/>
          <a:p>
            <a:pPr rtl="0"/>
            <a:r>
              <a:rPr lang="en-US" altLang="zh-TW" sz="4400" dirty="0"/>
              <a:t>END</a:t>
            </a:r>
            <a:endParaRPr lang="zh-TW" altLang="en-US" sz="4400" dirty="0"/>
          </a:p>
        </p:txBody>
      </p:sp>
      <p:sp>
        <p:nvSpPr>
          <p:cNvPr id="13" name="文字版面配置區 5">
            <a:extLst>
              <a:ext uri="{FF2B5EF4-FFF2-40B4-BE49-F238E27FC236}">
                <a16:creationId xmlns:a16="http://schemas.microsoft.com/office/drawing/2014/main" id="{6118A1B7-08BA-6B43-BBA8-952377DF94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02619" y="543354"/>
            <a:ext cx="1364297" cy="1094521"/>
          </a:xfrm>
        </p:spPr>
        <p:txBody>
          <a:bodyPr rtlCol="0"/>
          <a:lstStyle/>
          <a:p>
            <a:pPr rtl="0"/>
            <a:r>
              <a:rPr lang="zh-TW" altLang="en-US"/>
              <a:t>“</a:t>
            </a:r>
          </a:p>
        </p:txBody>
      </p:sp>
      <p:sp>
        <p:nvSpPr>
          <p:cNvPr id="14" name="文字版面配置區 7">
            <a:extLst>
              <a:ext uri="{FF2B5EF4-FFF2-40B4-BE49-F238E27FC236}">
                <a16:creationId xmlns:a16="http://schemas.microsoft.com/office/drawing/2014/main" id="{A1F17760-D90A-AB46-A4E0-31B2684E3F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20876" y="3426615"/>
            <a:ext cx="1364297" cy="1094521"/>
          </a:xfrm>
        </p:spPr>
        <p:txBody>
          <a:bodyPr rtlCol="0"/>
          <a:lstStyle/>
          <a:p>
            <a:pPr rtl="0"/>
            <a:r>
              <a:rPr lang="zh-TW" altLang="en-US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399837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05644-603D-28C3-FB65-D2BF109AB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9C40E-D9D3-AE52-3D73-4242C5CE4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zh-TW" altLang="en-US" dirty="0"/>
              <a:t>名詞解釋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BD51B9D-65B1-A12F-EBDF-90D131F71D2F}"/>
              </a:ext>
            </a:extLst>
          </p:cNvPr>
          <p:cNvSpPr txBox="1"/>
          <p:nvPr/>
        </p:nvSpPr>
        <p:spPr>
          <a:xfrm>
            <a:off x="1357312" y="2199459"/>
            <a:ext cx="912971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TW" dirty="0">
                <a:latin typeface="標楷體" panose="03000509000000000000" pitchFamily="65" charset="-120"/>
              </a:rPr>
              <a:t>RTK (Real-Time Kinematic) </a:t>
            </a:r>
            <a:r>
              <a:rPr lang="zh-TW" altLang="en-US" dirty="0">
                <a:latin typeface="標楷體" panose="03000509000000000000" pitchFamily="65" charset="-120"/>
              </a:rPr>
              <a:t>：</a:t>
            </a:r>
            <a:r>
              <a:rPr lang="en-US" altLang="zh-TW" dirty="0">
                <a:latin typeface="標楷體" panose="03000509000000000000" pitchFamily="65" charset="-120"/>
              </a:rPr>
              <a:t>RTK </a:t>
            </a:r>
            <a:r>
              <a:rPr lang="zh-TW" altLang="en-US" dirty="0">
                <a:latin typeface="標楷體" panose="03000509000000000000" pitchFamily="65" charset="-120"/>
              </a:rPr>
              <a:t>是一種透過</a:t>
            </a:r>
            <a:r>
              <a:rPr lang="zh-TW" altLang="en-US" b="1" dirty="0">
                <a:latin typeface="標楷體" panose="03000509000000000000" pitchFamily="65" charset="-120"/>
              </a:rPr>
              <a:t>基準站</a:t>
            </a:r>
            <a:r>
              <a:rPr lang="zh-TW" altLang="en-US" dirty="0">
                <a:latin typeface="標楷體" panose="03000509000000000000" pitchFamily="65" charset="-120"/>
              </a:rPr>
              <a:t>發送修正訊號，將 </a:t>
            </a:r>
            <a:r>
              <a:rPr lang="en-US" altLang="zh-TW" dirty="0">
                <a:latin typeface="標楷體" panose="03000509000000000000" pitchFamily="65" charset="-120"/>
              </a:rPr>
              <a:t>GPS </a:t>
            </a:r>
            <a:r>
              <a:rPr lang="zh-TW" altLang="en-US" dirty="0">
                <a:latin typeface="標楷體" panose="03000509000000000000" pitchFamily="65" charset="-120"/>
              </a:rPr>
              <a:t>定位精確度從公尺級提升至</a:t>
            </a:r>
            <a:r>
              <a:rPr lang="zh-TW" altLang="en-US" b="1" dirty="0">
                <a:latin typeface="標楷體" panose="03000509000000000000" pitchFamily="65" charset="-120"/>
              </a:rPr>
              <a:t>公分級</a:t>
            </a:r>
            <a:r>
              <a:rPr lang="zh-TW" altLang="en-US" dirty="0">
                <a:latin typeface="標楷體" panose="03000509000000000000" pitchFamily="65" charset="-120"/>
              </a:rPr>
              <a:t>的即時差分定位技術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TW" dirty="0">
                <a:latin typeface="標楷體" panose="03000509000000000000" pitchFamily="65" charset="-120"/>
              </a:rPr>
              <a:t>GNSS </a:t>
            </a:r>
            <a:r>
              <a:rPr lang="zh-TW" altLang="en-US" dirty="0">
                <a:latin typeface="標楷體" panose="03000509000000000000" pitchFamily="65" charset="-120"/>
              </a:rPr>
              <a:t>是所有導航衛星系統</a:t>
            </a:r>
            <a:r>
              <a:rPr lang="en-US" altLang="zh-TW" dirty="0">
                <a:latin typeface="標楷體" panose="03000509000000000000" pitchFamily="65" charset="-120"/>
              </a:rPr>
              <a:t>GPS</a:t>
            </a:r>
            <a:r>
              <a:rPr lang="zh-TW" altLang="en-US" dirty="0">
                <a:latin typeface="標楷體" panose="03000509000000000000" pitchFamily="65" charset="-120"/>
              </a:rPr>
              <a:t>的統稱，利用多組衛星群提供全球覆蓋的定位服務。 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Google Sans Text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TW" dirty="0">
                <a:latin typeface="標楷體" panose="03000509000000000000" pitchFamily="65" charset="-120"/>
              </a:rPr>
              <a:t>GNSS RTK</a:t>
            </a:r>
            <a:r>
              <a:rPr lang="zh-TW" altLang="en-US" dirty="0">
                <a:latin typeface="標楷體" panose="03000509000000000000" pitchFamily="65" charset="-120"/>
              </a:rPr>
              <a:t> 是將「全球衛星導航系統 </a:t>
            </a:r>
            <a:r>
              <a:rPr lang="en-US" altLang="zh-TW" dirty="0">
                <a:latin typeface="標楷體" panose="03000509000000000000" pitchFamily="65" charset="-120"/>
              </a:rPr>
              <a:t>(GNSS)</a:t>
            </a:r>
            <a:r>
              <a:rPr lang="zh-TW" altLang="en-US" dirty="0">
                <a:latin typeface="標楷體" panose="03000509000000000000" pitchFamily="65" charset="-120"/>
              </a:rPr>
              <a:t>」與「即時動態差分技術 </a:t>
            </a:r>
            <a:r>
              <a:rPr lang="en-US" altLang="zh-TW" dirty="0">
                <a:latin typeface="標楷體" panose="03000509000000000000" pitchFamily="65" charset="-120"/>
              </a:rPr>
              <a:t>(RTK)</a:t>
            </a:r>
            <a:r>
              <a:rPr lang="zh-TW" altLang="en-US" dirty="0">
                <a:latin typeface="標楷體" panose="03000509000000000000" pitchFamily="65" charset="-120"/>
              </a:rPr>
              <a:t>」結合的技術。它是目前民用領域中，獲取</a:t>
            </a:r>
            <a:r>
              <a:rPr lang="zh-TW" altLang="en-US" b="1" dirty="0">
                <a:latin typeface="標楷體" panose="03000509000000000000" pitchFamily="65" charset="-120"/>
              </a:rPr>
              <a:t>高精度即時位置</a:t>
            </a:r>
            <a:r>
              <a:rPr lang="zh-TW" altLang="en-US" dirty="0">
                <a:latin typeface="標楷體" panose="03000509000000000000" pitchFamily="65" charset="-120"/>
              </a:rPr>
              <a:t>最經濟且高效的方法。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TW" b="1" dirty="0">
                <a:latin typeface="標楷體" panose="03000509000000000000" pitchFamily="65" charset="-120"/>
              </a:rPr>
              <a:t>NLOS (</a:t>
            </a:r>
            <a:r>
              <a:rPr lang="zh-TW" altLang="en-US" b="1" dirty="0">
                <a:latin typeface="標楷體" panose="03000509000000000000" pitchFamily="65" charset="-120"/>
              </a:rPr>
              <a:t>非視距訊號</a:t>
            </a:r>
            <a:r>
              <a:rPr lang="en-US" altLang="zh-TW" b="1" dirty="0">
                <a:latin typeface="標楷體" panose="03000509000000000000" pitchFamily="65" charset="-120"/>
              </a:rPr>
              <a:t>, Non-Line-Of-Sight)</a:t>
            </a:r>
            <a:r>
              <a:rPr lang="zh-TW" altLang="en-US" dirty="0">
                <a:latin typeface="標楷體" panose="03000509000000000000" pitchFamily="65" charset="-120"/>
              </a:rPr>
              <a:t>：指那些「沒有直接照射到接收器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b="1" dirty="0">
                <a:latin typeface="標楷體" panose="03000509000000000000" pitchFamily="65" charset="-120"/>
              </a:rPr>
              <a:t>基準站</a:t>
            </a:r>
            <a:r>
              <a:rPr lang="en-US" altLang="zh-TW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，而是被建築物擋住後反射或折射才到達的衛星訊號。這些繞路的訊號包含了錯誤的距離資訊，是造成都市定位產生巨大誤差的元兇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zh-TW" altLang="en-US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3366451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51CB8-ED24-9439-8066-E91D1943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433BFE-34F3-FF62-6D54-F7225EF61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zh-TW" altLang="en-US" dirty="0"/>
              <a:t>名詞解釋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7AFF69-502B-2903-1CE7-A1AD6EE80267}"/>
              </a:ext>
            </a:extLst>
          </p:cNvPr>
          <p:cNvSpPr txBox="1"/>
          <p:nvPr/>
        </p:nvSpPr>
        <p:spPr>
          <a:xfrm>
            <a:off x="1357312" y="2199459"/>
            <a:ext cx="9129713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TW" b="1" dirty="0">
                <a:latin typeface="標楷體" panose="03000509000000000000" pitchFamily="65" charset="-120"/>
              </a:rPr>
              <a:t>3DMA (3D</a:t>
            </a:r>
            <a:r>
              <a:rPr lang="zh-TW" altLang="en-US" b="1" dirty="0">
                <a:latin typeface="標楷體" panose="03000509000000000000" pitchFamily="65" charset="-120"/>
              </a:rPr>
              <a:t>地圖輔助</a:t>
            </a:r>
            <a:r>
              <a:rPr lang="en-US" altLang="zh-TW" b="1" dirty="0">
                <a:latin typeface="標楷體" panose="03000509000000000000" pitchFamily="65" charset="-120"/>
              </a:rPr>
              <a:t>, 3D Mapping-Aided)</a:t>
            </a:r>
            <a:r>
              <a:rPr lang="zh-TW" altLang="en-US" dirty="0">
                <a:latin typeface="標楷體" panose="03000509000000000000" pitchFamily="65" charset="-120"/>
              </a:rPr>
              <a:t>：一種利用 </a:t>
            </a:r>
            <a:r>
              <a:rPr lang="en-US" altLang="zh-TW" b="1" dirty="0">
                <a:latin typeface="標楷體" panose="03000509000000000000" pitchFamily="65" charset="-120"/>
              </a:rPr>
              <a:t>3D </a:t>
            </a:r>
            <a:r>
              <a:rPr lang="zh-TW" altLang="en-US" b="1" dirty="0">
                <a:latin typeface="標楷體" panose="03000509000000000000" pitchFamily="65" charset="-120"/>
              </a:rPr>
              <a:t>城市建築模型</a:t>
            </a:r>
            <a:r>
              <a:rPr lang="zh-TW" altLang="en-US" dirty="0">
                <a:latin typeface="標楷體" panose="03000509000000000000" pitchFamily="65" charset="-120"/>
              </a:rPr>
              <a:t>來幫忙定位的技術概念。系統透過預先知道周圍高樓的幾何形狀，來判斷並</a:t>
            </a:r>
            <a:r>
              <a:rPr lang="zh-TW" altLang="en-US" b="1" dirty="0">
                <a:latin typeface="標楷體" panose="03000509000000000000" pitchFamily="65" charset="-120"/>
              </a:rPr>
              <a:t>過濾掉</a:t>
            </a:r>
            <a:r>
              <a:rPr lang="zh-TW" altLang="en-US" dirty="0">
                <a:latin typeface="標楷體" panose="03000509000000000000" pitchFamily="65" charset="-120"/>
              </a:rPr>
              <a:t>那些「不可能直接看到」的 </a:t>
            </a:r>
            <a:r>
              <a:rPr lang="en-US" altLang="zh-TW" dirty="0">
                <a:latin typeface="標楷體" panose="03000509000000000000" pitchFamily="65" charset="-120"/>
              </a:rPr>
              <a:t>NLOS </a:t>
            </a:r>
            <a:r>
              <a:rPr lang="zh-TW" altLang="en-US" dirty="0">
                <a:latin typeface="標楷體" panose="03000509000000000000" pitchFamily="65" charset="-120"/>
              </a:rPr>
              <a:t>衛星，只留下健康的訊號來計算位置</a:t>
            </a:r>
            <a:endParaRPr lang="en-US" altLang="zh-TW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TW" b="1" dirty="0" err="1">
                <a:latin typeface="標楷體" panose="03000509000000000000" pitchFamily="65" charset="-120"/>
              </a:rPr>
              <a:t>Skymask</a:t>
            </a:r>
            <a:r>
              <a:rPr lang="en-US" altLang="zh-TW" b="1" dirty="0">
                <a:latin typeface="標楷體" panose="03000509000000000000" pitchFamily="65" charset="-120"/>
              </a:rPr>
              <a:t> (</a:t>
            </a:r>
            <a:r>
              <a:rPr lang="zh-TW" altLang="en-US" b="1" dirty="0">
                <a:latin typeface="標楷體" panose="03000509000000000000" pitchFamily="65" charset="-120"/>
              </a:rPr>
              <a:t>天際線遮罩</a:t>
            </a:r>
            <a:r>
              <a:rPr lang="en-US" altLang="zh-TW" b="1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：</a:t>
            </a:r>
            <a:r>
              <a:rPr lang="zh-TW" altLang="en-US" b="1" dirty="0">
                <a:latin typeface="標楷體" panose="03000509000000000000" pitchFamily="65" charset="-120"/>
              </a:rPr>
              <a:t>簡單解釋</a:t>
            </a:r>
            <a:r>
              <a:rPr lang="zh-TW" altLang="en-US" dirty="0">
                <a:latin typeface="標楷體" panose="03000509000000000000" pitchFamily="65" charset="-120"/>
              </a:rPr>
              <a:t>：它是 </a:t>
            </a:r>
            <a:r>
              <a:rPr lang="en-US" altLang="zh-TW" dirty="0">
                <a:latin typeface="標楷體" panose="03000509000000000000" pitchFamily="65" charset="-120"/>
              </a:rPr>
              <a:t>3D </a:t>
            </a:r>
            <a:r>
              <a:rPr lang="zh-TW" altLang="en-US" dirty="0">
                <a:latin typeface="標楷體" panose="03000509000000000000" pitchFamily="65" charset="-120"/>
              </a:rPr>
              <a:t>地圖在定位系統中的具體應用形式。你可以把它想像成一張從你所在位置往上看天空的「</a:t>
            </a:r>
            <a:r>
              <a:rPr lang="zh-TW" altLang="en-US" b="1" dirty="0">
                <a:latin typeface="標楷體" panose="03000509000000000000" pitchFamily="65" charset="-120"/>
              </a:rPr>
              <a:t>建築物邊界圖</a:t>
            </a:r>
            <a:r>
              <a:rPr lang="zh-TW" altLang="en-US" dirty="0">
                <a:latin typeface="標楷體" panose="03000509000000000000" pitchFamily="65" charset="-120"/>
              </a:rPr>
              <a:t>」。系統利用這張圖，就能一眼看出天空中的某顆衛星是高於建築物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</a:rPr>
              <a:t>健康訊號</a:t>
            </a:r>
            <a:r>
              <a:rPr lang="en-US" altLang="zh-TW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，還是被建築物擋住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</a:rPr>
              <a:t>不健康訊號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TW" b="1" dirty="0">
                <a:latin typeface="標楷體" panose="03000509000000000000" pitchFamily="65" charset="-120"/>
              </a:rPr>
              <a:t>BIE estimator (</a:t>
            </a:r>
            <a:r>
              <a:rPr lang="zh-TW" altLang="en-US" b="1" dirty="0">
                <a:latin typeface="標楷體" panose="03000509000000000000" pitchFamily="65" charset="-120"/>
              </a:rPr>
              <a:t>最佳整數等變量估計器</a:t>
            </a:r>
            <a:r>
              <a:rPr lang="en-US" altLang="zh-TW" b="1" dirty="0">
                <a:latin typeface="標楷體" panose="03000509000000000000" pitchFamily="65" charset="-120"/>
              </a:rPr>
              <a:t>, Best Integer Equivariant estimator)</a:t>
            </a:r>
            <a:r>
              <a:rPr lang="zh-TW" altLang="en-US" dirty="0">
                <a:latin typeface="標楷體" panose="03000509000000000000" pitchFamily="65" charset="-120"/>
              </a:rPr>
              <a:t>：</a:t>
            </a:r>
            <a:r>
              <a:rPr lang="zh-TW" altLang="en-US" b="1" dirty="0">
                <a:latin typeface="標楷體" panose="03000509000000000000" pitchFamily="65" charset="-120"/>
              </a:rPr>
              <a:t>簡單解釋</a:t>
            </a:r>
            <a:r>
              <a:rPr lang="zh-TW" altLang="en-US" dirty="0">
                <a:latin typeface="標楷體" panose="03000509000000000000" pitchFamily="65" charset="-120"/>
              </a:rPr>
              <a:t>：這是一種用來算出最準確座標的</a:t>
            </a:r>
            <a:r>
              <a:rPr lang="zh-TW" altLang="en-US" b="1" dirty="0">
                <a:latin typeface="標楷體" panose="03000509000000000000" pitchFamily="65" charset="-120"/>
              </a:rPr>
              <a:t>數學計算方法</a:t>
            </a:r>
            <a:r>
              <a:rPr lang="en-US" altLang="zh-TW" dirty="0">
                <a:latin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</a:rPr>
              <a:t>用於模糊度解算</a:t>
            </a:r>
            <a:r>
              <a:rPr lang="en-US" altLang="zh-TW" dirty="0">
                <a:latin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</a:rPr>
              <a:t>。在充滿雜訊的都市中，傳統方法如果挑錯一個解，誤差就會爆表；而 </a:t>
            </a:r>
            <a:r>
              <a:rPr lang="en-US" altLang="zh-TW" dirty="0">
                <a:latin typeface="標楷體" panose="03000509000000000000" pitchFamily="65" charset="-120"/>
              </a:rPr>
              <a:t>BIE </a:t>
            </a:r>
            <a:r>
              <a:rPr lang="zh-TW" altLang="en-US" dirty="0">
                <a:latin typeface="標楷體" panose="03000509000000000000" pitchFamily="65" charset="-120"/>
              </a:rPr>
              <a:t>方法則是將多個可能的候選解答進行「加權平均」，因此在應對不良訊號時，能提供更穩定且精準的結果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zh-TW" altLang="en-US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zh-TW" altLang="en-US" dirty="0">
              <a:latin typeface="標楷體" panose="03000509000000000000" pitchFamily="65" charset="-12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endParaRPr lang="en-US" altLang="zh-TW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450403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257828_TF45331398_Win32" id="{23A4F419-0944-4273-B502-742E5F211EB8}" vid="{3A1ECA11-6685-43D9-8277-0D384E247C8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A615295-94F6-4CE2-A1B1-6B7E1DAA5A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334180-0405-413B-834A-44FA9E05AD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5BAB77-79E1-4739-AA51-10C9079186D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通用簡報</Template>
  <TotalTime>330</TotalTime>
  <Words>1278</Words>
  <Application>Microsoft Office PowerPoint</Application>
  <PresentationFormat>寬螢幕</PresentationFormat>
  <Paragraphs>68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3" baseType="lpstr">
      <vt:lpstr>Google Sans</vt:lpstr>
      <vt:lpstr>Google Sans Text</vt:lpstr>
      <vt:lpstr>Microsoft JhengHei UI</vt:lpstr>
      <vt:lpstr>標楷體</vt:lpstr>
      <vt:lpstr>Arial</vt:lpstr>
      <vt:lpstr>Tenorite</vt:lpstr>
      <vt:lpstr>Wingdings</vt:lpstr>
      <vt:lpstr>Office 佈景主題</vt:lpstr>
      <vt:lpstr>3D地圖資料庫輔助GNSSRTK及其在都市峽谷中的評估</vt:lpstr>
      <vt:lpstr>主題</vt:lpstr>
      <vt:lpstr>摘要</vt:lpstr>
      <vt:lpstr>摘要</vt:lpstr>
      <vt:lpstr>摘要</vt:lpstr>
      <vt:lpstr>理論模型與方法</vt:lpstr>
      <vt:lpstr>理論模型與方法架構 本研究所提出的3DMAGNSSRTK演算法分為「離線處理」與「線上即時定位」兩個主要階段</vt:lpstr>
      <vt:lpstr>結果分析</vt:lpstr>
      <vt:lpstr>結果分析研究團隊在香港的多處市區與郊區峽谷進行靜態實驗</vt:lpstr>
      <vt:lpstr>結果分析研究團隊在香港的多處市區與郊區峽谷進行靜態實驗</vt:lpstr>
      <vt:lpstr>限制與未來展望：</vt:lpstr>
      <vt:lpstr>限制與未來展望：</vt:lpstr>
      <vt:lpstr>END</vt:lpstr>
      <vt:lpstr>名詞解釋</vt:lpstr>
      <vt:lpstr>名詞解釋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3D 地圖資料庫輔助GNSS RTK及其在都市峽谷中的評估</dc:title>
  <dc:creator>顓賢 劉</dc:creator>
  <cp:lastModifiedBy>鄭仁靖</cp:lastModifiedBy>
  <cp:revision>11</cp:revision>
  <dcterms:created xsi:type="dcterms:W3CDTF">2026-03-13T07:25:04Z</dcterms:created>
  <dcterms:modified xsi:type="dcterms:W3CDTF">2026-03-15T06:06:56Z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